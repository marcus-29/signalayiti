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SignalAyiti, une plateforme de signalement et de suivi des problèmes communautaires, pensée pour le contexte de la vie quotidienne en Haïti. C'est un projet individuel réalisé avec React pour le front-end et Laravel pour le back-end, dans le cadre du cours de développement web, niveau approfondi.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ce soit une route endommagée, une coupure d'eau, une panne d'électricité, des ordures non ramassées ou un lampadaire en panne, ces problèmes du quotidien restent souvent invisibles pour les services communaux, faute d'un canal simple pour les signaler et en suivre le traitement.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L'objectif est double : donner aux citoyens un moyen simple de signaler un problème, et donner aux agents communaux les outils pour centraliser, traiter et suivre ces signalements, tout en gardant le citoyen informé grâce aux notifications et à un tableau de bord clair.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distingue deux rôles. Le citoyen crée un compte, signale un problème et suit son évolution. L'agent communal, lui, voit l'ensemble des signalements, les traite et dispose d'un tableau de bord pour avoir une vue globale de la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fonctionnalités structurent l'application : l'authentification, la création d'un signalement, le suivi de son statut, l'ajout d'interventions par l'agent, les notifications automatiques, et un tableau de bord de statistiques.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architecture, le front-end React communique avec une API REST Laravel via des requêtes HTTP au format JSON. L'authentification se fait par token grâce à Laravel Sanctum, et les données sont stockées dans une base SQLite, ce qui simplifie beaucoup l'installation.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de données repose sur quatre tables. Un utilisateur peut créer plusieurs signalements. Chaque signalement peut avoir plusieurs interventions, qui tracent les changements de statut, et génère des notifications pour le citoyen concerné.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page d'accueil. Elle présente le projet en quelques mots et affiche des statistiques publiques : le nombre de signalements résolus, en cours, et le nombre de quartiers actifs. Un citoyen peut directement cliquer sur Signaler un problème.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signaler un problème, le citoyen choisit une catégorie parmi sept, comme la route, l'eau, l'électricité ou la sécurité, donne un titre et une description, précise son quartier, et peut ajouter une photo. Toutes les données sont validées côté serveur.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la page de détail, on voit le statut actuel du signalement et l'historique des interventions. Ici, un agent est passé du statut nouveau à en cours, avec un commentaire expliquant qu'une équipe technique a été envoyée sur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voici le résultat côté citoyen : dès que le statut a changé, une notification apparaît automatiquement, ici pour le signalement de route abîmée que je venais de créer. C'est ce qui ferme la boucle entre le citoyen et la commune.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Enfin, le tableau de bord donne à l'agent une vue d'ensemble : le nombre de signalements par statut, la répartition par catégorie, et les quartiers les plus actifs, pour prioriser le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qualité, le projet compte vingt tests PHPUnit qui couvrent l'authentification, la création de signalements et les autorisations par rôle, et ils passent tous. La sécurité repose sur Sanctum, le hachage des mots de passe, la validation systématique côté serveur, et des règles d'autorisation strictes. Enfin, l'éco-responsabilité a guidé plusieurs choix : pagination, requêtes optimisées, interface sobre adaptée à une connexion parfois limitée.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ce projet livre aujourd'hui un cahier des charges complet, une conception visuelle et technique, une application React et Laravel fonctionnelle de bout en bout, vingt tests automatisés, et un dépôt Git avec un historique de commits clair. Parmi les pistes d'évolution : une carte interactive avec géolocalisation, une messagerie interne, l'export PDF des rapports, et une interface bilingue français créole. Merci de votre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Shape 0"/>
          <p:cNvSpPr/>
          <p:nvPr/>
        </p:nvSpPr>
        <p:spPr>
          <a:xfrm>
            <a:off x="8869680" y="-2103120"/>
            <a:ext cx="6400800" cy="6400800"/>
          </a:xfrm>
          <a:prstGeom prst="ellipse">
            <a:avLst/>
          </a:prstGeom>
          <a:solidFill>
            <a:srgbClr val="153252"/>
          </a:solidFill>
          <a:ln/>
        </p:spPr>
      </p:sp>
      <p:sp>
        <p:nvSpPr>
          <p:cNvPr id="3" name="Shape 1"/>
          <p:cNvSpPr/>
          <p:nvPr/>
        </p:nvSpPr>
        <p:spPr>
          <a:xfrm>
            <a:off x="10332720" y="4023360"/>
            <a:ext cx="3291840" cy="3291840"/>
          </a:xfrm>
          <a:prstGeom prst="ellipse">
            <a:avLst/>
          </a:prstGeom>
          <a:solidFill>
            <a:srgbClr val="A6192E"/>
          </a:solidFill>
          <a:ln/>
        </p:spPr>
      </p:sp>
      <p:sp>
        <p:nvSpPr>
          <p:cNvPr id="4" name="Shape 2"/>
          <p:cNvSpPr/>
          <p:nvPr/>
        </p:nvSpPr>
        <p:spPr>
          <a:xfrm>
            <a:off x="640080" y="640080"/>
            <a:ext cx="640080" cy="640080"/>
          </a:xfrm>
          <a:prstGeom prst="ellipse">
            <a:avLst/>
          </a:prstGeom>
          <a:solidFill>
            <a:srgbClr val="A6192E"/>
          </a:solidFill>
          <a:ln/>
        </p:spPr>
      </p:sp>
      <p:sp>
        <p:nvSpPr>
          <p:cNvPr id="5" name="Text 3"/>
          <p:cNvSpPr txBox="1"/>
          <p:nvPr/>
        </p:nvSpPr>
        <p:spPr>
          <a:xfrm>
            <a:off x="640080" y="640080"/>
            <a:ext cx="64008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6" name="Text 4"/>
          <p:cNvSpPr txBox="1"/>
          <p:nvPr/>
        </p:nvSpPr>
        <p:spPr>
          <a:xfrm>
            <a:off x="640080" y="2331720"/>
            <a:ext cx="10058400" cy="1097280"/>
          </a:xfrm>
          <a:prstGeom prst="rect">
            <a:avLst/>
          </a:prstGeom>
          <a:noFill/>
          <a:ln/>
        </p:spPr>
        <p:txBody>
          <a:bodyPr wrap="square" lIns="0" tIns="0" rIns="0" bIns="0" rtlCol="0" anchor="ctr"/>
          <a:lstStyle/>
          <a:p>
            <a:pPr indent="0" marL="0">
              <a:buNone/>
            </a:pPr>
            <a:r>
              <a:rPr lang="en-US" sz="5400" b="1" spc="100" kern="0" dirty="0">
                <a:solidFill>
                  <a:srgbClr val="FFFFFF"/>
                </a:solidFill>
                <a:latin typeface="Cambria" pitchFamily="34" charset="0"/>
                <a:ea typeface="Cambria" pitchFamily="34" charset="-122"/>
                <a:cs typeface="Cambria" pitchFamily="34" charset="-120"/>
              </a:rPr>
              <a:t>SIGNALAYITI</a:t>
            </a:r>
            <a:endParaRPr lang="en-US" sz="5400" dirty="0"/>
          </a:p>
        </p:txBody>
      </p:sp>
      <p:sp>
        <p:nvSpPr>
          <p:cNvPr id="7" name="Text 5"/>
          <p:cNvSpPr txBox="1"/>
          <p:nvPr/>
        </p:nvSpPr>
        <p:spPr>
          <a:xfrm>
            <a:off x="658368" y="3246120"/>
            <a:ext cx="8686800" cy="548640"/>
          </a:xfrm>
          <a:prstGeom prst="rect">
            <a:avLst/>
          </a:prstGeom>
          <a:noFill/>
          <a:ln/>
        </p:spPr>
        <p:txBody>
          <a:bodyPr wrap="square" lIns="0" tIns="0" rIns="0" bIns="0" rtlCol="0" anchor="ctr"/>
          <a:lstStyle/>
          <a:p>
            <a:pPr indent="0" marL="0">
              <a:buNone/>
            </a:pPr>
            <a:r>
              <a:rPr lang="en-US" sz="1900" i="1" dirty="0">
                <a:solidFill>
                  <a:srgbClr val="CADCFC"/>
                </a:solidFill>
                <a:latin typeface="Calibri" pitchFamily="34" charset="0"/>
                <a:ea typeface="Calibri" pitchFamily="34" charset="-122"/>
                <a:cs typeface="Calibri" pitchFamily="34" charset="-120"/>
              </a:rPr>
              <a:t>Plateforme de signalement et de suivi des problèmes communautaires</a:t>
            </a:r>
            <a:endParaRPr lang="en-US" sz="1900" dirty="0"/>
          </a:p>
        </p:txBody>
      </p:sp>
      <p:sp>
        <p:nvSpPr>
          <p:cNvPr id="8" name="Text 6"/>
          <p:cNvSpPr txBox="1"/>
          <p:nvPr/>
        </p:nvSpPr>
        <p:spPr>
          <a:xfrm>
            <a:off x="658368" y="3886200"/>
            <a:ext cx="8686800" cy="640080"/>
          </a:xfrm>
          <a:prstGeom prst="rect">
            <a:avLst/>
          </a:prstGeom>
          <a:noFill/>
          <a:ln/>
        </p:spPr>
        <p:txBody>
          <a:bodyPr wrap="square" lIns="0" tIns="0" rIns="0" bIns="0" rtlCol="0" anchor="ctr"/>
          <a:lstStyle/>
          <a:p>
            <a:pPr indent="0" marL="0">
              <a:lnSpc>
                <a:spcPct val="130000"/>
              </a:lnSpc>
              <a:buNone/>
            </a:pPr>
            <a:r>
              <a:rPr lang="en-US" sz="1300" dirty="0">
                <a:solidFill>
                  <a:srgbClr val="9FB7D6"/>
                </a:solidFill>
                <a:latin typeface="Calibri" pitchFamily="34" charset="0"/>
                <a:ea typeface="Calibri" pitchFamily="34" charset="-122"/>
                <a:cs typeface="Calibri" pitchFamily="34" charset="-120"/>
              </a:rPr>
              <a:t>Signalement d'incidents  •  Suivi des interventions  •  Statut des demandes</a:t>
            </a:r>
            <a:endParaRPr lang="en-US" sz="1300" dirty="0"/>
          </a:p>
          <a:p>
            <a:pPr indent="0" marL="0">
              <a:lnSpc>
                <a:spcPct val="130000"/>
              </a:lnSpc>
              <a:buNone/>
            </a:pPr>
            <a:r>
              <a:rPr lang="en-US" sz="1300" dirty="0">
                <a:solidFill>
                  <a:srgbClr val="9FB7D6"/>
                </a:solidFill>
                <a:latin typeface="Calibri" pitchFamily="34" charset="0"/>
                <a:ea typeface="Calibri" pitchFamily="34" charset="-122"/>
                <a:cs typeface="Calibri" pitchFamily="34" charset="-120"/>
              </a:rPr>
              <a:t>Notifications  •  Historique  •  Tableau de bord</a:t>
            </a:r>
            <a:endParaRPr lang="en-US" sz="1300" dirty="0"/>
          </a:p>
        </p:txBody>
      </p:sp>
      <p:sp>
        <p:nvSpPr>
          <p:cNvPr id="9" name="Shape 7"/>
          <p:cNvSpPr/>
          <p:nvPr/>
        </p:nvSpPr>
        <p:spPr>
          <a:xfrm>
            <a:off x="658368" y="5806440"/>
            <a:ext cx="1463040" cy="0"/>
          </a:xfrm>
          <a:prstGeom prst="line">
            <a:avLst/>
          </a:prstGeom>
          <a:noFill/>
          <a:ln w="25400">
            <a:solidFill>
              <a:srgbClr val="A6192E"/>
            </a:solidFill>
            <a:prstDash val="solid"/>
          </a:ln>
        </p:spPr>
      </p:sp>
      <p:sp>
        <p:nvSpPr>
          <p:cNvPr id="10" name="Text 8"/>
          <p:cNvSpPr txBox="1"/>
          <p:nvPr/>
        </p:nvSpPr>
        <p:spPr>
          <a:xfrm>
            <a:off x="658368" y="5943600"/>
            <a:ext cx="914400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Cours Développement Web, niveau approfondi  |  Projet individuel React + Laravel</a:t>
            </a:r>
            <a:endParaRPr lang="en-US" sz="1200" dirty="0"/>
          </a:p>
        </p:txBody>
      </p:sp>
      <p:sp>
        <p:nvSpPr>
          <p:cNvPr id="11" name="Text 9"/>
          <p:cNvSpPr txBox="1"/>
          <p:nvPr/>
        </p:nvSpPr>
        <p:spPr>
          <a:xfrm>
            <a:off x="658368" y="6263640"/>
            <a:ext cx="91440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Marcus Jean Louis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A6192E"/>
                </a:solidFill>
                <a:latin typeface="Calibri" pitchFamily="34" charset="0"/>
                <a:ea typeface="Calibri" pitchFamily="34" charset="-122"/>
                <a:cs typeface="Calibri" pitchFamily="34" charset="-120"/>
              </a:rPr>
              <a:t>CONTEXTE</a:t>
            </a:r>
            <a:endParaRPr lang="en-US" sz="1300" dirty="0"/>
          </a:p>
        </p:txBody>
      </p:sp>
      <p:sp>
        <p:nvSpPr>
          <p:cNvPr id="3" name="Text 1"/>
          <p:cNvSpPr txBox="1"/>
          <p:nvPr/>
        </p:nvSpPr>
        <p:spPr>
          <a:xfrm>
            <a:off x="640080" y="777240"/>
            <a:ext cx="10908792" cy="731520"/>
          </a:xfrm>
          <a:prstGeom prst="rect">
            <a:avLst/>
          </a:prstGeom>
          <a:noFill/>
          <a:ln/>
        </p:spPr>
        <p:txBody>
          <a:bodyPr wrap="square" lIns="0" tIns="0" rIns="0" bIns="0" rtlCol="0" anchor="ctr"/>
          <a:lstStyle/>
          <a:p>
            <a:pPr indent="0" marL="0">
              <a:buNone/>
            </a:pPr>
            <a:r>
              <a:rPr lang="en-US" sz="3200" b="1" dirty="0">
                <a:solidFill>
                  <a:srgbClr val="1F4E79"/>
                </a:solidFill>
                <a:latin typeface="Cambria" pitchFamily="34" charset="0"/>
                <a:ea typeface="Cambria" pitchFamily="34" charset="-122"/>
                <a:cs typeface="Cambria" pitchFamily="34" charset="-120"/>
              </a:rPr>
              <a:t>Un problème très concret</a:t>
            </a:r>
            <a:endParaRPr lang="en-US" sz="3200" dirty="0"/>
          </a:p>
        </p:txBody>
      </p:sp>
      <p:sp>
        <p:nvSpPr>
          <p:cNvPr id="4" name="Text 2"/>
          <p:cNvSpPr txBox="1"/>
          <p:nvPr/>
        </p:nvSpPr>
        <p:spPr>
          <a:xfrm>
            <a:off x="640080" y="1737360"/>
            <a:ext cx="10881360" cy="1005840"/>
          </a:xfrm>
          <a:prstGeom prst="rect">
            <a:avLst/>
          </a:prstGeom>
          <a:noFill/>
          <a:ln/>
        </p:spPr>
        <p:txBody>
          <a:bodyPr wrap="square" lIns="0" tIns="0" rIns="0" bIns="0" rtlCol="0" anchor="ctr"/>
          <a:lstStyle/>
          <a:p>
            <a:pPr indent="0" marL="0">
              <a:lnSpc>
                <a:spcPct val="125000"/>
              </a:lnSpc>
              <a:buNone/>
            </a:pPr>
            <a:r>
              <a:rPr lang="en-US" sz="1600" dirty="0">
                <a:solidFill>
                  <a:srgbClr val="1F2328"/>
                </a:solidFill>
                <a:latin typeface="Calibri" pitchFamily="34" charset="0"/>
                <a:ea typeface="Calibri" pitchFamily="34" charset="-122"/>
                <a:cs typeface="Calibri" pitchFamily="34" charset="-120"/>
              </a:rPr>
              <a:t>Dans beaucoup de quartiers haïtiens, les habitants observent chaque jour des problèmes qui touchent leur vie quotidienne, mais n'ont aucun moyen simple de les signaler à la mairie, ni de savoir si quelque chose a été fait.</a:t>
            </a:r>
            <a:endParaRPr lang="en-US" sz="1600" dirty="0"/>
          </a:p>
        </p:txBody>
      </p:sp>
      <p:sp>
        <p:nvSpPr>
          <p:cNvPr id="5" name="Shape 3"/>
          <p:cNvSpPr/>
          <p:nvPr/>
        </p:nvSpPr>
        <p:spPr>
          <a:xfrm>
            <a:off x="640080" y="3063240"/>
            <a:ext cx="3429000" cy="2651760"/>
          </a:xfrm>
          <a:prstGeom prst="roundRect">
            <a:avLst>
              <a:gd name="adj" fmla="val 4138"/>
            </a:avLst>
          </a:prstGeom>
          <a:solidFill>
            <a:srgbClr val="E9EEF5"/>
          </a:solidFill>
          <a:ln/>
          <a:effectLst>
            <a:outerShdw sx="100000" sy="100000" kx="0" ky="0" algn="bl" rotWithShape="0" blurRad="101600" dist="38100" dir="5400000">
              <a:srgbClr val="1F2328">
                <a:alpha val="18000"/>
              </a:srgbClr>
            </a:outerShdw>
          </a:effectLst>
        </p:spPr>
      </p:sp>
      <p:sp>
        <p:nvSpPr>
          <p:cNvPr id="6" name="Shape 4"/>
          <p:cNvSpPr/>
          <p:nvPr/>
        </p:nvSpPr>
        <p:spPr>
          <a:xfrm>
            <a:off x="914400" y="3383280"/>
            <a:ext cx="640080" cy="640080"/>
          </a:xfrm>
          <a:prstGeom prst="ellipse">
            <a:avLst/>
          </a:prstGeom>
          <a:solidFill>
            <a:srgbClr val="1F4E79"/>
          </a:solidFill>
          <a:ln/>
        </p:spPr>
      </p:sp>
      <p:sp>
        <p:nvSpPr>
          <p:cNvPr id="7" name="Text 5"/>
          <p:cNvSpPr txBox="1"/>
          <p:nvPr/>
        </p:nvSpPr>
        <p:spPr>
          <a:xfrm>
            <a:off x="914400" y="338328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8" name="Text 6"/>
          <p:cNvSpPr txBox="1"/>
          <p:nvPr/>
        </p:nvSpPr>
        <p:spPr>
          <a:xfrm>
            <a:off x="914400" y="4206240"/>
            <a:ext cx="2880360" cy="548640"/>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Routes endommagées</a:t>
            </a:r>
            <a:endParaRPr lang="en-US" sz="1600" dirty="0"/>
          </a:p>
        </p:txBody>
      </p:sp>
      <p:sp>
        <p:nvSpPr>
          <p:cNvPr id="9" name="Text 7"/>
          <p:cNvSpPr txBox="1"/>
          <p:nvPr/>
        </p:nvSpPr>
        <p:spPr>
          <a:xfrm>
            <a:off x="914400" y="4754880"/>
            <a:ext cx="2880360" cy="822960"/>
          </a:xfrm>
          <a:prstGeom prst="rect">
            <a:avLst/>
          </a:prstGeom>
          <a:noFill/>
          <a:ln/>
        </p:spPr>
        <p:txBody>
          <a:bodyPr wrap="square" lIns="0" tIns="0" rIns="0" bIns="0" rtlCol="0" anchor="ctr"/>
          <a:lstStyle/>
          <a:p>
            <a:pPr indent="0" marL="0">
              <a:lnSpc>
                <a:spcPct val="120000"/>
              </a:lnSpc>
              <a:buNone/>
            </a:pPr>
            <a:r>
              <a:rPr lang="en-US" sz="1250" dirty="0">
                <a:solidFill>
                  <a:srgbClr val="5B6673"/>
                </a:solidFill>
                <a:latin typeface="Calibri" pitchFamily="34" charset="0"/>
                <a:ea typeface="Calibri" pitchFamily="34" charset="-122"/>
                <a:cs typeface="Calibri" pitchFamily="34" charset="-120"/>
              </a:rPr>
              <a:t>Nids de poule et chaussées dégradées après les pluies.</a:t>
            </a:r>
            <a:endParaRPr lang="en-US" sz="1250" dirty="0"/>
          </a:p>
        </p:txBody>
      </p:sp>
      <p:sp>
        <p:nvSpPr>
          <p:cNvPr id="10" name="Shape 8"/>
          <p:cNvSpPr/>
          <p:nvPr/>
        </p:nvSpPr>
        <p:spPr>
          <a:xfrm>
            <a:off x="4389120" y="3063240"/>
            <a:ext cx="3429000" cy="2651760"/>
          </a:xfrm>
          <a:prstGeom prst="roundRect">
            <a:avLst>
              <a:gd name="adj" fmla="val 4138"/>
            </a:avLst>
          </a:prstGeom>
          <a:solidFill>
            <a:srgbClr val="E9EEF5"/>
          </a:solidFill>
          <a:ln/>
          <a:effectLst>
            <a:outerShdw sx="100000" sy="100000" kx="0" ky="0" algn="bl" rotWithShape="0" blurRad="101600" dist="38100" dir="5400000">
              <a:srgbClr val="1F2328">
                <a:alpha val="18000"/>
              </a:srgbClr>
            </a:outerShdw>
          </a:effectLst>
        </p:spPr>
      </p:sp>
      <p:sp>
        <p:nvSpPr>
          <p:cNvPr id="11" name="Shape 9"/>
          <p:cNvSpPr/>
          <p:nvPr/>
        </p:nvSpPr>
        <p:spPr>
          <a:xfrm>
            <a:off x="4663440" y="3383280"/>
            <a:ext cx="640080" cy="640080"/>
          </a:xfrm>
          <a:prstGeom prst="ellipse">
            <a:avLst/>
          </a:prstGeom>
          <a:solidFill>
            <a:srgbClr val="1F4E79"/>
          </a:solidFill>
          <a:ln/>
        </p:spPr>
      </p:sp>
      <p:sp>
        <p:nvSpPr>
          <p:cNvPr id="12" name="Text 10"/>
          <p:cNvSpPr txBox="1"/>
          <p:nvPr/>
        </p:nvSpPr>
        <p:spPr>
          <a:xfrm>
            <a:off x="4663440" y="338328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3" name="Text 11"/>
          <p:cNvSpPr txBox="1"/>
          <p:nvPr/>
        </p:nvSpPr>
        <p:spPr>
          <a:xfrm>
            <a:off x="4663440" y="4206240"/>
            <a:ext cx="2880360" cy="548640"/>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Eau et électricité</a:t>
            </a:r>
            <a:endParaRPr lang="en-US" sz="1600" dirty="0"/>
          </a:p>
        </p:txBody>
      </p:sp>
      <p:sp>
        <p:nvSpPr>
          <p:cNvPr id="14" name="Text 12"/>
          <p:cNvSpPr txBox="1"/>
          <p:nvPr/>
        </p:nvSpPr>
        <p:spPr>
          <a:xfrm>
            <a:off x="4663440" y="4754880"/>
            <a:ext cx="2880360" cy="822960"/>
          </a:xfrm>
          <a:prstGeom prst="rect">
            <a:avLst/>
          </a:prstGeom>
          <a:noFill/>
          <a:ln/>
        </p:spPr>
        <p:txBody>
          <a:bodyPr wrap="square" lIns="0" tIns="0" rIns="0" bIns="0" rtlCol="0" anchor="ctr"/>
          <a:lstStyle/>
          <a:p>
            <a:pPr indent="0" marL="0">
              <a:lnSpc>
                <a:spcPct val="120000"/>
              </a:lnSpc>
              <a:buNone/>
            </a:pPr>
            <a:r>
              <a:rPr lang="en-US" sz="1250" dirty="0">
                <a:solidFill>
                  <a:srgbClr val="5B6673"/>
                </a:solidFill>
                <a:latin typeface="Calibri" pitchFamily="34" charset="0"/>
                <a:ea typeface="Calibri" pitchFamily="34" charset="-122"/>
                <a:cs typeface="Calibri" pitchFamily="34" charset="-120"/>
              </a:rPr>
              <a:t>Coupures d'eau potable et pannes récurrentes du réseau EDH.</a:t>
            </a:r>
            <a:endParaRPr lang="en-US" sz="1250" dirty="0"/>
          </a:p>
        </p:txBody>
      </p:sp>
      <p:sp>
        <p:nvSpPr>
          <p:cNvPr id="15" name="Shape 13"/>
          <p:cNvSpPr/>
          <p:nvPr/>
        </p:nvSpPr>
        <p:spPr>
          <a:xfrm>
            <a:off x="8138160" y="3063240"/>
            <a:ext cx="3429000" cy="2651760"/>
          </a:xfrm>
          <a:prstGeom prst="roundRect">
            <a:avLst>
              <a:gd name="adj" fmla="val 4138"/>
            </a:avLst>
          </a:prstGeom>
          <a:solidFill>
            <a:srgbClr val="E9EEF5"/>
          </a:solidFill>
          <a:ln/>
          <a:effectLst>
            <a:outerShdw sx="100000" sy="100000" kx="0" ky="0" algn="bl" rotWithShape="0" blurRad="101600" dist="38100" dir="5400000">
              <a:srgbClr val="1F2328">
                <a:alpha val="18000"/>
              </a:srgbClr>
            </a:outerShdw>
          </a:effectLst>
        </p:spPr>
      </p:sp>
      <p:sp>
        <p:nvSpPr>
          <p:cNvPr id="16" name="Shape 14"/>
          <p:cNvSpPr/>
          <p:nvPr/>
        </p:nvSpPr>
        <p:spPr>
          <a:xfrm>
            <a:off x="8412480" y="3383280"/>
            <a:ext cx="640080" cy="640080"/>
          </a:xfrm>
          <a:prstGeom prst="ellipse">
            <a:avLst/>
          </a:prstGeom>
          <a:solidFill>
            <a:srgbClr val="1F4E79"/>
          </a:solidFill>
          <a:ln/>
        </p:spPr>
      </p:sp>
      <p:sp>
        <p:nvSpPr>
          <p:cNvPr id="17" name="Text 15"/>
          <p:cNvSpPr txBox="1"/>
          <p:nvPr/>
        </p:nvSpPr>
        <p:spPr>
          <a:xfrm>
            <a:off x="8412480" y="338328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8" name="Text 16"/>
          <p:cNvSpPr txBox="1"/>
          <p:nvPr/>
        </p:nvSpPr>
        <p:spPr>
          <a:xfrm>
            <a:off x="8412480" y="4206240"/>
            <a:ext cx="2880360" cy="548640"/>
          </a:xfrm>
          <a:prstGeom prst="rect">
            <a:avLst/>
          </a:prstGeom>
          <a:noFill/>
          <a:ln/>
        </p:spPr>
        <p:txBody>
          <a:bodyPr wrap="square" lIns="0" tIns="0" rIns="0" bIns="0" rtlCol="0" anchor="ctr"/>
          <a:lstStyle/>
          <a:p>
            <a:pPr indent="0" marL="0">
              <a:buNone/>
            </a:pPr>
            <a:r>
              <a:rPr lang="en-US" sz="1600" b="1" dirty="0">
                <a:solidFill>
                  <a:srgbClr val="1F4E79"/>
                </a:solidFill>
                <a:latin typeface="Calibri" pitchFamily="34" charset="0"/>
                <a:ea typeface="Calibri" pitchFamily="34" charset="-122"/>
                <a:cs typeface="Calibri" pitchFamily="34" charset="-120"/>
              </a:rPr>
              <a:t>Déchets et éclairage</a:t>
            </a:r>
            <a:endParaRPr lang="en-US" sz="1600" dirty="0"/>
          </a:p>
        </p:txBody>
      </p:sp>
      <p:sp>
        <p:nvSpPr>
          <p:cNvPr id="19" name="Text 17"/>
          <p:cNvSpPr txBox="1"/>
          <p:nvPr/>
        </p:nvSpPr>
        <p:spPr>
          <a:xfrm>
            <a:off x="8412480" y="4754880"/>
            <a:ext cx="2880360" cy="822960"/>
          </a:xfrm>
          <a:prstGeom prst="rect">
            <a:avLst/>
          </a:prstGeom>
          <a:noFill/>
          <a:ln/>
        </p:spPr>
        <p:txBody>
          <a:bodyPr wrap="square" lIns="0" tIns="0" rIns="0" bIns="0" rtlCol="0" anchor="ctr"/>
          <a:lstStyle/>
          <a:p>
            <a:pPr indent="0" marL="0">
              <a:lnSpc>
                <a:spcPct val="120000"/>
              </a:lnSpc>
              <a:buNone/>
            </a:pPr>
            <a:r>
              <a:rPr lang="en-US" sz="1250" dirty="0">
                <a:solidFill>
                  <a:srgbClr val="5B6673"/>
                </a:solidFill>
                <a:latin typeface="Calibri" pitchFamily="34" charset="0"/>
                <a:ea typeface="Calibri" pitchFamily="34" charset="-122"/>
                <a:cs typeface="Calibri" pitchFamily="34" charset="-120"/>
              </a:rPr>
              <a:t>Ordures non ramassées, lampadaires publics en panne.</a:t>
            </a:r>
            <a:endParaRPr lang="en-US" sz="1250" dirty="0"/>
          </a:p>
        </p:txBody>
      </p:sp>
      <p:sp>
        <p:nvSpPr>
          <p:cNvPr id="20" name="Text 18"/>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673"/>
                </a:solidFill>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A6192E"/>
                </a:solidFill>
                <a:latin typeface="Calibri" pitchFamily="34" charset="0"/>
                <a:ea typeface="Calibri" pitchFamily="34" charset="-122"/>
                <a:cs typeface="Calibri" pitchFamily="34" charset="-120"/>
              </a:rPr>
              <a:t>OBJECTIFS</a:t>
            </a:r>
            <a:endParaRPr lang="en-US" sz="1300" dirty="0"/>
          </a:p>
        </p:txBody>
      </p:sp>
      <p:sp>
        <p:nvSpPr>
          <p:cNvPr id="3" name="Text 1"/>
          <p:cNvSpPr txBox="1"/>
          <p:nvPr/>
        </p:nvSpPr>
        <p:spPr>
          <a:xfrm>
            <a:off x="640080" y="777240"/>
            <a:ext cx="10908792" cy="731520"/>
          </a:xfrm>
          <a:prstGeom prst="rect">
            <a:avLst/>
          </a:prstGeom>
          <a:noFill/>
          <a:ln/>
        </p:spPr>
        <p:txBody>
          <a:bodyPr wrap="square" lIns="0" tIns="0" rIns="0" bIns="0" rtlCol="0" anchor="ctr"/>
          <a:lstStyle/>
          <a:p>
            <a:pPr indent="0" marL="0">
              <a:buNone/>
            </a:pPr>
            <a:r>
              <a:rPr lang="en-US" sz="3200" b="1" dirty="0">
                <a:solidFill>
                  <a:srgbClr val="1F4E79"/>
                </a:solidFill>
                <a:latin typeface="Cambria" pitchFamily="34" charset="0"/>
                <a:ea typeface="Cambria" pitchFamily="34" charset="-122"/>
                <a:cs typeface="Cambria" pitchFamily="34" charset="-120"/>
              </a:rPr>
              <a:t>Ce que SignalAyiti apporte</a:t>
            </a:r>
            <a:endParaRPr lang="en-US" sz="3200" dirty="0"/>
          </a:p>
        </p:txBody>
      </p:sp>
      <p:sp>
        <p:nvSpPr>
          <p:cNvPr id="4" name="Shape 2"/>
          <p:cNvSpPr/>
          <p:nvPr/>
        </p:nvSpPr>
        <p:spPr>
          <a:xfrm>
            <a:off x="640080" y="1783080"/>
            <a:ext cx="777240" cy="777240"/>
          </a:xfrm>
          <a:prstGeom prst="ellipse">
            <a:avLst/>
          </a:prstGeom>
          <a:solidFill>
            <a:srgbClr val="1F4E79"/>
          </a:solidFill>
          <a:ln/>
        </p:spPr>
      </p:sp>
      <p:sp>
        <p:nvSpPr>
          <p:cNvPr id="5" name="Text 3"/>
          <p:cNvSpPr txBox="1"/>
          <p:nvPr/>
        </p:nvSpPr>
        <p:spPr>
          <a:xfrm>
            <a:off x="640080" y="1783080"/>
            <a:ext cx="777240" cy="7772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6" name="Text 4"/>
          <p:cNvSpPr txBox="1"/>
          <p:nvPr/>
        </p:nvSpPr>
        <p:spPr>
          <a:xfrm>
            <a:off x="1600200" y="1737360"/>
            <a:ext cx="4297680" cy="365760"/>
          </a:xfrm>
          <a:prstGeom prst="rect">
            <a:avLst/>
          </a:prstGeom>
          <a:noFill/>
          <a:ln/>
        </p:spPr>
        <p:txBody>
          <a:bodyPr wrap="square" lIns="0" tIns="0" rIns="0" bIns="0" rtlCol="0" anchor="ctr"/>
          <a:lstStyle/>
          <a:p>
            <a:pPr indent="0" marL="0">
              <a:buNone/>
            </a:pPr>
            <a:r>
              <a:rPr lang="en-US" sz="1550" b="1" dirty="0">
                <a:solidFill>
                  <a:srgbClr val="1F4E79"/>
                </a:solidFill>
                <a:latin typeface="Calibri" pitchFamily="34" charset="0"/>
                <a:ea typeface="Calibri" pitchFamily="34" charset="-122"/>
                <a:cs typeface="Calibri" pitchFamily="34" charset="-120"/>
              </a:rPr>
              <a:t>Donner la parole aux citoyens</a:t>
            </a:r>
            <a:endParaRPr lang="en-US" sz="1550" dirty="0"/>
          </a:p>
        </p:txBody>
      </p:sp>
      <p:sp>
        <p:nvSpPr>
          <p:cNvPr id="7" name="Text 5"/>
          <p:cNvSpPr txBox="1"/>
          <p:nvPr/>
        </p:nvSpPr>
        <p:spPr>
          <a:xfrm>
            <a:off x="1600200" y="2103120"/>
            <a:ext cx="4297680" cy="868680"/>
          </a:xfrm>
          <a:prstGeom prst="rect">
            <a:avLst/>
          </a:prstGeom>
          <a:noFill/>
          <a:ln/>
        </p:spPr>
        <p:txBody>
          <a:bodyPr wrap="square" lIns="0" tIns="0" rIns="0" bIns="0" rtlCol="0" anchor="ctr"/>
          <a:lstStyle/>
          <a:p>
            <a:pPr indent="0" marL="0">
              <a:lnSpc>
                <a:spcPct val="120000"/>
              </a:lnSpc>
              <a:buNone/>
            </a:pPr>
            <a:r>
              <a:rPr lang="en-US" sz="1250" dirty="0">
                <a:solidFill>
                  <a:srgbClr val="5B6673"/>
                </a:solidFill>
                <a:latin typeface="Calibri" pitchFamily="34" charset="0"/>
                <a:ea typeface="Calibri" pitchFamily="34" charset="-122"/>
                <a:cs typeface="Calibri" pitchFamily="34" charset="-120"/>
              </a:rPr>
              <a:t>Un moyen simple et rapide de signaler un problème, même avec une connexion limitée.</a:t>
            </a:r>
            <a:endParaRPr lang="en-US" sz="1250" dirty="0"/>
          </a:p>
        </p:txBody>
      </p:sp>
      <p:sp>
        <p:nvSpPr>
          <p:cNvPr id="8" name="Shape 6"/>
          <p:cNvSpPr/>
          <p:nvPr/>
        </p:nvSpPr>
        <p:spPr>
          <a:xfrm>
            <a:off x="6263640" y="1783080"/>
            <a:ext cx="777240" cy="777240"/>
          </a:xfrm>
          <a:prstGeom prst="ellipse">
            <a:avLst/>
          </a:prstGeom>
          <a:solidFill>
            <a:srgbClr val="A6192E"/>
          </a:solidFill>
          <a:ln/>
        </p:spPr>
      </p:sp>
      <p:sp>
        <p:nvSpPr>
          <p:cNvPr id="9" name="Text 7"/>
          <p:cNvSpPr txBox="1"/>
          <p:nvPr/>
        </p:nvSpPr>
        <p:spPr>
          <a:xfrm>
            <a:off x="6263640" y="1783080"/>
            <a:ext cx="777240" cy="7772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0" name="Text 8"/>
          <p:cNvSpPr txBox="1"/>
          <p:nvPr/>
        </p:nvSpPr>
        <p:spPr>
          <a:xfrm>
            <a:off x="7223760" y="1737360"/>
            <a:ext cx="4297680" cy="365760"/>
          </a:xfrm>
          <a:prstGeom prst="rect">
            <a:avLst/>
          </a:prstGeom>
          <a:noFill/>
          <a:ln/>
        </p:spPr>
        <p:txBody>
          <a:bodyPr wrap="square" lIns="0" tIns="0" rIns="0" bIns="0" rtlCol="0" anchor="ctr"/>
          <a:lstStyle/>
          <a:p>
            <a:pPr indent="0" marL="0">
              <a:buNone/>
            </a:pPr>
            <a:r>
              <a:rPr lang="en-US" sz="1550" b="1" dirty="0">
                <a:solidFill>
                  <a:srgbClr val="1F4E79"/>
                </a:solidFill>
                <a:latin typeface="Calibri" pitchFamily="34" charset="0"/>
                <a:ea typeface="Calibri" pitchFamily="34" charset="-122"/>
                <a:cs typeface="Calibri" pitchFamily="34" charset="-120"/>
              </a:rPr>
              <a:t>Centraliser pour les agents</a:t>
            </a:r>
            <a:endParaRPr lang="en-US" sz="1550" dirty="0"/>
          </a:p>
        </p:txBody>
      </p:sp>
      <p:sp>
        <p:nvSpPr>
          <p:cNvPr id="11" name="Text 9"/>
          <p:cNvSpPr txBox="1"/>
          <p:nvPr/>
        </p:nvSpPr>
        <p:spPr>
          <a:xfrm>
            <a:off x="7223760" y="2103120"/>
            <a:ext cx="4297680" cy="868680"/>
          </a:xfrm>
          <a:prstGeom prst="rect">
            <a:avLst/>
          </a:prstGeom>
          <a:noFill/>
          <a:ln/>
        </p:spPr>
        <p:txBody>
          <a:bodyPr wrap="square" lIns="0" tIns="0" rIns="0" bIns="0" rtlCol="0" anchor="ctr"/>
          <a:lstStyle/>
          <a:p>
            <a:pPr indent="0" marL="0">
              <a:lnSpc>
                <a:spcPct val="120000"/>
              </a:lnSpc>
              <a:buNone/>
            </a:pPr>
            <a:r>
              <a:rPr lang="en-US" sz="1250" dirty="0">
                <a:solidFill>
                  <a:srgbClr val="5B6673"/>
                </a:solidFill>
                <a:latin typeface="Calibri" pitchFamily="34" charset="0"/>
                <a:ea typeface="Calibri" pitchFamily="34" charset="-122"/>
                <a:cs typeface="Calibri" pitchFamily="34" charset="-120"/>
              </a:rPr>
              <a:t>Une vue d'ensemble des signalements à traiter et à prioriser.</a:t>
            </a:r>
            <a:endParaRPr lang="en-US" sz="1250" dirty="0"/>
          </a:p>
        </p:txBody>
      </p:sp>
      <p:sp>
        <p:nvSpPr>
          <p:cNvPr id="12" name="Shape 10"/>
          <p:cNvSpPr/>
          <p:nvPr/>
        </p:nvSpPr>
        <p:spPr>
          <a:xfrm>
            <a:off x="640080" y="3246120"/>
            <a:ext cx="777240" cy="777240"/>
          </a:xfrm>
          <a:prstGeom prst="ellipse">
            <a:avLst/>
          </a:prstGeom>
          <a:solidFill>
            <a:srgbClr val="1F4E79"/>
          </a:solidFill>
          <a:ln/>
        </p:spPr>
      </p:sp>
      <p:sp>
        <p:nvSpPr>
          <p:cNvPr id="13" name="Text 11"/>
          <p:cNvSpPr txBox="1"/>
          <p:nvPr/>
        </p:nvSpPr>
        <p:spPr>
          <a:xfrm>
            <a:off x="640080" y="3246120"/>
            <a:ext cx="777240" cy="7772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4" name="Text 12"/>
          <p:cNvSpPr txBox="1"/>
          <p:nvPr/>
        </p:nvSpPr>
        <p:spPr>
          <a:xfrm>
            <a:off x="1600200" y="3200400"/>
            <a:ext cx="4297680" cy="365760"/>
          </a:xfrm>
          <a:prstGeom prst="rect">
            <a:avLst/>
          </a:prstGeom>
          <a:noFill/>
          <a:ln/>
        </p:spPr>
        <p:txBody>
          <a:bodyPr wrap="square" lIns="0" tIns="0" rIns="0" bIns="0" rtlCol="0" anchor="ctr"/>
          <a:lstStyle/>
          <a:p>
            <a:pPr indent="0" marL="0">
              <a:buNone/>
            </a:pPr>
            <a:r>
              <a:rPr lang="en-US" sz="1550" b="1" dirty="0">
                <a:solidFill>
                  <a:srgbClr val="1F4E79"/>
                </a:solidFill>
                <a:latin typeface="Calibri" pitchFamily="34" charset="0"/>
                <a:ea typeface="Calibri" pitchFamily="34" charset="-122"/>
                <a:cs typeface="Calibri" pitchFamily="34" charset="-120"/>
              </a:rPr>
              <a:t>Créer de la confiance</a:t>
            </a:r>
            <a:endParaRPr lang="en-US" sz="1550" dirty="0"/>
          </a:p>
        </p:txBody>
      </p:sp>
      <p:sp>
        <p:nvSpPr>
          <p:cNvPr id="15" name="Text 13"/>
          <p:cNvSpPr txBox="1"/>
          <p:nvPr/>
        </p:nvSpPr>
        <p:spPr>
          <a:xfrm>
            <a:off x="1600200" y="3566160"/>
            <a:ext cx="4297680" cy="868680"/>
          </a:xfrm>
          <a:prstGeom prst="rect">
            <a:avLst/>
          </a:prstGeom>
          <a:noFill/>
          <a:ln/>
        </p:spPr>
        <p:txBody>
          <a:bodyPr wrap="square" lIns="0" tIns="0" rIns="0" bIns="0" rtlCol="0" anchor="ctr"/>
          <a:lstStyle/>
          <a:p>
            <a:pPr indent="0" marL="0">
              <a:lnSpc>
                <a:spcPct val="120000"/>
              </a:lnSpc>
              <a:buNone/>
            </a:pPr>
            <a:r>
              <a:rPr lang="en-US" sz="1250" dirty="0">
                <a:solidFill>
                  <a:srgbClr val="5B6673"/>
                </a:solidFill>
                <a:latin typeface="Calibri" pitchFamily="34" charset="0"/>
                <a:ea typeface="Calibri" pitchFamily="34" charset="-122"/>
                <a:cs typeface="Calibri" pitchFamily="34" charset="-120"/>
              </a:rPr>
              <a:t>Un suivi transparent du statut et des notifications à chaque changement.</a:t>
            </a:r>
            <a:endParaRPr lang="en-US" sz="1250" dirty="0"/>
          </a:p>
        </p:txBody>
      </p:sp>
      <p:sp>
        <p:nvSpPr>
          <p:cNvPr id="16" name="Shape 14"/>
          <p:cNvSpPr/>
          <p:nvPr/>
        </p:nvSpPr>
        <p:spPr>
          <a:xfrm>
            <a:off x="6263640" y="3246120"/>
            <a:ext cx="777240" cy="777240"/>
          </a:xfrm>
          <a:prstGeom prst="ellipse">
            <a:avLst/>
          </a:prstGeom>
          <a:solidFill>
            <a:srgbClr val="A6192E"/>
          </a:solidFill>
          <a:ln/>
        </p:spPr>
      </p:sp>
      <p:sp>
        <p:nvSpPr>
          <p:cNvPr id="17" name="Text 15"/>
          <p:cNvSpPr txBox="1"/>
          <p:nvPr/>
        </p:nvSpPr>
        <p:spPr>
          <a:xfrm>
            <a:off x="6263640" y="3246120"/>
            <a:ext cx="777240" cy="77724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8" name="Text 16"/>
          <p:cNvSpPr txBox="1"/>
          <p:nvPr/>
        </p:nvSpPr>
        <p:spPr>
          <a:xfrm>
            <a:off x="7223760" y="3200400"/>
            <a:ext cx="4297680" cy="365760"/>
          </a:xfrm>
          <a:prstGeom prst="rect">
            <a:avLst/>
          </a:prstGeom>
          <a:noFill/>
          <a:ln/>
        </p:spPr>
        <p:txBody>
          <a:bodyPr wrap="square" lIns="0" tIns="0" rIns="0" bIns="0" rtlCol="0" anchor="ctr"/>
          <a:lstStyle/>
          <a:p>
            <a:pPr indent="0" marL="0">
              <a:buNone/>
            </a:pPr>
            <a:r>
              <a:rPr lang="en-US" sz="1550" b="1" dirty="0">
                <a:solidFill>
                  <a:srgbClr val="1F4E79"/>
                </a:solidFill>
                <a:latin typeface="Calibri" pitchFamily="34" charset="0"/>
                <a:ea typeface="Calibri" pitchFamily="34" charset="-122"/>
                <a:cs typeface="Calibri" pitchFamily="34" charset="-120"/>
              </a:rPr>
              <a:t>Éclairer la décision</a:t>
            </a:r>
            <a:endParaRPr lang="en-US" sz="1550" dirty="0"/>
          </a:p>
        </p:txBody>
      </p:sp>
      <p:sp>
        <p:nvSpPr>
          <p:cNvPr id="19" name="Text 17"/>
          <p:cNvSpPr txBox="1"/>
          <p:nvPr/>
        </p:nvSpPr>
        <p:spPr>
          <a:xfrm>
            <a:off x="7223760" y="3566160"/>
            <a:ext cx="4297680" cy="868680"/>
          </a:xfrm>
          <a:prstGeom prst="rect">
            <a:avLst/>
          </a:prstGeom>
          <a:noFill/>
          <a:ln/>
        </p:spPr>
        <p:txBody>
          <a:bodyPr wrap="square" lIns="0" tIns="0" rIns="0" bIns="0" rtlCol="0" anchor="ctr"/>
          <a:lstStyle/>
          <a:p>
            <a:pPr indent="0" marL="0">
              <a:lnSpc>
                <a:spcPct val="120000"/>
              </a:lnSpc>
              <a:buNone/>
            </a:pPr>
            <a:r>
              <a:rPr lang="en-US" sz="1250" dirty="0">
                <a:solidFill>
                  <a:srgbClr val="5B6673"/>
                </a:solidFill>
                <a:latin typeface="Calibri" pitchFamily="34" charset="0"/>
                <a:ea typeface="Calibri" pitchFamily="34" charset="-122"/>
                <a:cs typeface="Calibri" pitchFamily="34" charset="-120"/>
              </a:rPr>
              <a:t>Un tableau de bord par statut, catégorie et quartier.</a:t>
            </a:r>
            <a:endParaRPr lang="en-US" sz="1250" dirty="0"/>
          </a:p>
        </p:txBody>
      </p:sp>
      <p:sp>
        <p:nvSpPr>
          <p:cNvPr id="20" name="Text 18"/>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673"/>
                </a:solidFill>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A6192E"/>
                </a:solidFill>
                <a:latin typeface="Calibri" pitchFamily="34" charset="0"/>
                <a:ea typeface="Calibri" pitchFamily="34" charset="-122"/>
                <a:cs typeface="Calibri" pitchFamily="34" charset="-120"/>
              </a:rPr>
              <a:t>UTILISATEURS</a:t>
            </a:r>
            <a:endParaRPr lang="en-US" sz="1300" dirty="0"/>
          </a:p>
        </p:txBody>
      </p:sp>
      <p:sp>
        <p:nvSpPr>
          <p:cNvPr id="3" name="Text 1"/>
          <p:cNvSpPr txBox="1"/>
          <p:nvPr/>
        </p:nvSpPr>
        <p:spPr>
          <a:xfrm>
            <a:off x="640080" y="777240"/>
            <a:ext cx="10908792" cy="731520"/>
          </a:xfrm>
          <a:prstGeom prst="rect">
            <a:avLst/>
          </a:prstGeom>
          <a:noFill/>
          <a:ln/>
        </p:spPr>
        <p:txBody>
          <a:bodyPr wrap="square" lIns="0" tIns="0" rIns="0" bIns="0" rtlCol="0" anchor="ctr"/>
          <a:lstStyle/>
          <a:p>
            <a:pPr indent="0" marL="0">
              <a:buNone/>
            </a:pPr>
            <a:r>
              <a:rPr lang="en-US" sz="3200" b="1" dirty="0">
                <a:solidFill>
                  <a:srgbClr val="1F4E79"/>
                </a:solidFill>
                <a:latin typeface="Cambria" pitchFamily="34" charset="0"/>
                <a:ea typeface="Cambria" pitchFamily="34" charset="-122"/>
                <a:cs typeface="Cambria" pitchFamily="34" charset="-120"/>
              </a:rPr>
              <a:t>Deux rôles, deux besoins</a:t>
            </a:r>
            <a:endParaRPr lang="en-US" sz="3200" dirty="0"/>
          </a:p>
        </p:txBody>
      </p:sp>
      <p:sp>
        <p:nvSpPr>
          <p:cNvPr id="4" name="Shape 2"/>
          <p:cNvSpPr/>
          <p:nvPr/>
        </p:nvSpPr>
        <p:spPr>
          <a:xfrm>
            <a:off x="640080" y="1783080"/>
            <a:ext cx="5257800" cy="4206240"/>
          </a:xfrm>
          <a:prstGeom prst="roundRect">
            <a:avLst>
              <a:gd name="adj" fmla="val 3043"/>
            </a:avLst>
          </a:prstGeom>
          <a:solidFill>
            <a:srgbClr val="E9EEF5"/>
          </a:solidFill>
          <a:ln/>
          <a:effectLst>
            <a:outerShdw sx="100000" sy="100000" kx="0" ky="0" algn="bl" rotWithShape="0" blurRad="101600" dist="38100" dir="5400000">
              <a:srgbClr val="1F2328">
                <a:alpha val="18000"/>
              </a:srgbClr>
            </a:outerShdw>
          </a:effectLst>
        </p:spPr>
      </p:sp>
      <p:sp>
        <p:nvSpPr>
          <p:cNvPr id="5" name="Shape 3"/>
          <p:cNvSpPr/>
          <p:nvPr/>
        </p:nvSpPr>
        <p:spPr>
          <a:xfrm>
            <a:off x="1005840" y="2148840"/>
            <a:ext cx="822960" cy="822960"/>
          </a:xfrm>
          <a:prstGeom prst="ellipse">
            <a:avLst/>
          </a:prstGeom>
          <a:solidFill>
            <a:srgbClr val="1F4E79"/>
          </a:solidFill>
          <a:ln/>
        </p:spPr>
      </p:sp>
      <p:sp>
        <p:nvSpPr>
          <p:cNvPr id="6" name="Text 4"/>
          <p:cNvSpPr txBox="1"/>
          <p:nvPr/>
        </p:nvSpPr>
        <p:spPr>
          <a:xfrm>
            <a:off x="1005840" y="2148840"/>
            <a:ext cx="822960" cy="8229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7" name="Text 5"/>
          <p:cNvSpPr txBox="1"/>
          <p:nvPr/>
        </p:nvSpPr>
        <p:spPr>
          <a:xfrm>
            <a:off x="2011680" y="2286000"/>
            <a:ext cx="3611880" cy="548640"/>
          </a:xfrm>
          <a:prstGeom prst="rect">
            <a:avLst/>
          </a:prstGeom>
          <a:noFill/>
          <a:ln/>
        </p:spPr>
        <p:txBody>
          <a:bodyPr wrap="square" lIns="0" tIns="0" rIns="0" bIns="0" rtlCol="0" anchor="ctr"/>
          <a:lstStyle/>
          <a:p>
            <a:pPr indent="0" marL="0">
              <a:buNone/>
            </a:pPr>
            <a:r>
              <a:rPr lang="en-US" sz="2100" b="1" dirty="0">
                <a:solidFill>
                  <a:srgbClr val="1F4E79"/>
                </a:solidFill>
                <a:latin typeface="Cambria" pitchFamily="34" charset="0"/>
                <a:ea typeface="Cambria" pitchFamily="34" charset="-122"/>
                <a:cs typeface="Cambria" pitchFamily="34" charset="-120"/>
              </a:rPr>
              <a:t>Citoyen</a:t>
            </a:r>
            <a:endParaRPr lang="en-US" sz="2100" dirty="0"/>
          </a:p>
        </p:txBody>
      </p:sp>
      <p:sp>
        <p:nvSpPr>
          <p:cNvPr id="8" name="Text 6"/>
          <p:cNvSpPr txBox="1"/>
          <p:nvPr/>
        </p:nvSpPr>
        <p:spPr>
          <a:xfrm>
            <a:off x="1051560" y="3246120"/>
            <a:ext cx="4434840" cy="246888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400" dirty="0">
                <a:solidFill>
                  <a:srgbClr val="1F2328"/>
                </a:solidFill>
                <a:latin typeface="Calibri" pitchFamily="34" charset="0"/>
                <a:ea typeface="Calibri" pitchFamily="34" charset="-122"/>
                <a:cs typeface="Calibri" pitchFamily="34" charset="-120"/>
              </a:rPr>
              <a:t>Crée un compte et se connecte</a:t>
            </a:r>
            <a:endParaRPr lang="en-US" sz="1400" dirty="0"/>
          </a:p>
          <a:p>
            <a:pPr marL="342900" indent="-342900">
              <a:lnSpc>
                <a:spcPct val="115000"/>
              </a:lnSpc>
              <a:spcAft>
                <a:spcPts val="1200"/>
              </a:spcAft>
              <a:buSzPct val="100000"/>
              <a:buChar char="●"/>
            </a:pPr>
            <a:r>
              <a:rPr lang="en-US" sz="1400" dirty="0">
                <a:solidFill>
                  <a:srgbClr val="1F2328"/>
                </a:solidFill>
                <a:latin typeface="Calibri" pitchFamily="34" charset="0"/>
                <a:ea typeface="Calibri" pitchFamily="34" charset="-122"/>
                <a:cs typeface="Calibri" pitchFamily="34" charset="-120"/>
              </a:rPr>
              <a:t>Signale un problème avec photo facultative</a:t>
            </a:r>
            <a:endParaRPr lang="en-US" sz="1400" dirty="0"/>
          </a:p>
          <a:p>
            <a:pPr marL="342900" indent="-342900">
              <a:lnSpc>
                <a:spcPct val="115000"/>
              </a:lnSpc>
              <a:spcAft>
                <a:spcPts val="1200"/>
              </a:spcAft>
              <a:buSzPct val="100000"/>
              <a:buChar char="●"/>
            </a:pPr>
            <a:r>
              <a:rPr lang="en-US" sz="1400" dirty="0">
                <a:solidFill>
                  <a:srgbClr val="1F2328"/>
                </a:solidFill>
                <a:latin typeface="Calibri" pitchFamily="34" charset="0"/>
                <a:ea typeface="Calibri" pitchFamily="34" charset="-122"/>
                <a:cs typeface="Calibri" pitchFamily="34" charset="-120"/>
              </a:rPr>
              <a:t>Suit le statut de ses signalements</a:t>
            </a:r>
            <a:endParaRPr lang="en-US" sz="1400" dirty="0"/>
          </a:p>
          <a:p>
            <a:pPr marL="342900" indent="-342900">
              <a:lnSpc>
                <a:spcPct val="115000"/>
              </a:lnSpc>
              <a:spcAft>
                <a:spcPts val="1200"/>
              </a:spcAft>
              <a:buSzPct val="100000"/>
              <a:buChar char="●"/>
            </a:pPr>
            <a:r>
              <a:rPr lang="en-US" sz="1400" dirty="0">
                <a:solidFill>
                  <a:srgbClr val="1F2328"/>
                </a:solidFill>
                <a:latin typeface="Calibri" pitchFamily="34" charset="0"/>
                <a:ea typeface="Calibri" pitchFamily="34" charset="-122"/>
                <a:cs typeface="Calibri" pitchFamily="34" charset="-120"/>
              </a:rPr>
              <a:t>Reçoit une notification à chaque mise à jour</a:t>
            </a:r>
            <a:endParaRPr lang="en-US" sz="1400" dirty="0"/>
          </a:p>
        </p:txBody>
      </p:sp>
      <p:sp>
        <p:nvSpPr>
          <p:cNvPr id="9" name="Shape 7"/>
          <p:cNvSpPr/>
          <p:nvPr/>
        </p:nvSpPr>
        <p:spPr>
          <a:xfrm>
            <a:off x="6263640" y="1783080"/>
            <a:ext cx="5257800" cy="4206240"/>
          </a:xfrm>
          <a:prstGeom prst="roundRect">
            <a:avLst>
              <a:gd name="adj" fmla="val 3043"/>
            </a:avLst>
          </a:prstGeom>
          <a:solidFill>
            <a:srgbClr val="FBEAEC"/>
          </a:solidFill>
          <a:ln/>
          <a:effectLst>
            <a:outerShdw sx="100000" sy="100000" kx="0" ky="0" algn="bl" rotWithShape="0" blurRad="101600" dist="38100" dir="5400000">
              <a:srgbClr val="1F2328">
                <a:alpha val="18000"/>
              </a:srgbClr>
            </a:outerShdw>
          </a:effectLst>
        </p:spPr>
      </p:sp>
      <p:sp>
        <p:nvSpPr>
          <p:cNvPr id="10" name="Shape 8"/>
          <p:cNvSpPr/>
          <p:nvPr/>
        </p:nvSpPr>
        <p:spPr>
          <a:xfrm>
            <a:off x="6629400" y="2148840"/>
            <a:ext cx="822960" cy="822960"/>
          </a:xfrm>
          <a:prstGeom prst="ellipse">
            <a:avLst/>
          </a:prstGeom>
          <a:solidFill>
            <a:srgbClr val="A6192E"/>
          </a:solidFill>
          <a:ln/>
        </p:spPr>
      </p:sp>
      <p:sp>
        <p:nvSpPr>
          <p:cNvPr id="11" name="Text 9"/>
          <p:cNvSpPr txBox="1"/>
          <p:nvPr/>
        </p:nvSpPr>
        <p:spPr>
          <a:xfrm>
            <a:off x="6629400" y="2148840"/>
            <a:ext cx="822960" cy="8229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2" name="Text 10"/>
          <p:cNvSpPr txBox="1"/>
          <p:nvPr/>
        </p:nvSpPr>
        <p:spPr>
          <a:xfrm>
            <a:off x="7635240" y="2286000"/>
            <a:ext cx="3611880" cy="548640"/>
          </a:xfrm>
          <a:prstGeom prst="rect">
            <a:avLst/>
          </a:prstGeom>
          <a:noFill/>
          <a:ln/>
        </p:spPr>
        <p:txBody>
          <a:bodyPr wrap="square" lIns="0" tIns="0" rIns="0" bIns="0" rtlCol="0" anchor="ctr"/>
          <a:lstStyle/>
          <a:p>
            <a:pPr indent="0" marL="0">
              <a:buNone/>
            </a:pPr>
            <a:r>
              <a:rPr lang="en-US" sz="2100" b="1" dirty="0">
                <a:solidFill>
                  <a:srgbClr val="A6192E"/>
                </a:solidFill>
                <a:latin typeface="Cambria" pitchFamily="34" charset="0"/>
                <a:ea typeface="Cambria" pitchFamily="34" charset="-122"/>
                <a:cs typeface="Cambria" pitchFamily="34" charset="-120"/>
              </a:rPr>
              <a:t>Agent communal</a:t>
            </a:r>
            <a:endParaRPr lang="en-US" sz="2100" dirty="0"/>
          </a:p>
        </p:txBody>
      </p:sp>
      <p:sp>
        <p:nvSpPr>
          <p:cNvPr id="13" name="Text 11"/>
          <p:cNvSpPr txBox="1"/>
          <p:nvPr/>
        </p:nvSpPr>
        <p:spPr>
          <a:xfrm>
            <a:off x="6675120" y="3246120"/>
            <a:ext cx="4434840" cy="246888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400" dirty="0">
                <a:solidFill>
                  <a:srgbClr val="1F2328"/>
                </a:solidFill>
                <a:latin typeface="Calibri" pitchFamily="34" charset="0"/>
                <a:ea typeface="Calibri" pitchFamily="34" charset="-122"/>
                <a:cs typeface="Calibri" pitchFamily="34" charset="-120"/>
              </a:rPr>
              <a:t>Consulte tous les signalements</a:t>
            </a:r>
            <a:endParaRPr lang="en-US" sz="1400" dirty="0"/>
          </a:p>
          <a:p>
            <a:pPr marL="342900" indent="-342900">
              <a:lnSpc>
                <a:spcPct val="115000"/>
              </a:lnSpc>
              <a:spcAft>
                <a:spcPts val="1200"/>
              </a:spcAft>
              <a:buSzPct val="100000"/>
              <a:buChar char="●"/>
            </a:pPr>
            <a:r>
              <a:rPr lang="en-US" sz="1400" dirty="0">
                <a:solidFill>
                  <a:srgbClr val="1F2328"/>
                </a:solidFill>
                <a:latin typeface="Calibri" pitchFamily="34" charset="0"/>
                <a:ea typeface="Calibri" pitchFamily="34" charset="-122"/>
                <a:cs typeface="Calibri" pitchFamily="34" charset="-120"/>
              </a:rPr>
              <a:t>Filtre par statut, catégorie et quartier</a:t>
            </a:r>
            <a:endParaRPr lang="en-US" sz="1400" dirty="0"/>
          </a:p>
          <a:p>
            <a:pPr marL="342900" indent="-342900">
              <a:lnSpc>
                <a:spcPct val="115000"/>
              </a:lnSpc>
              <a:spcAft>
                <a:spcPts val="1200"/>
              </a:spcAft>
              <a:buSzPct val="100000"/>
              <a:buChar char="●"/>
            </a:pPr>
            <a:r>
              <a:rPr lang="en-US" sz="1400" dirty="0">
                <a:solidFill>
                  <a:srgbClr val="1F2328"/>
                </a:solidFill>
                <a:latin typeface="Calibri" pitchFamily="34" charset="0"/>
                <a:ea typeface="Calibri" pitchFamily="34" charset="-122"/>
                <a:cs typeface="Calibri" pitchFamily="34" charset="-120"/>
              </a:rPr>
              <a:t>Ajoute des interventions et change le statut</a:t>
            </a:r>
            <a:endParaRPr lang="en-US" sz="1400" dirty="0"/>
          </a:p>
          <a:p>
            <a:pPr marL="342900" indent="-342900">
              <a:lnSpc>
                <a:spcPct val="115000"/>
              </a:lnSpc>
              <a:spcAft>
                <a:spcPts val="1200"/>
              </a:spcAft>
              <a:buSzPct val="100000"/>
              <a:buChar char="●"/>
            </a:pPr>
            <a:r>
              <a:rPr lang="en-US" sz="1400" dirty="0">
                <a:solidFill>
                  <a:srgbClr val="1F2328"/>
                </a:solidFill>
                <a:latin typeface="Calibri" pitchFamily="34" charset="0"/>
                <a:ea typeface="Calibri" pitchFamily="34" charset="-122"/>
                <a:cs typeface="Calibri" pitchFamily="34" charset="-120"/>
              </a:rPr>
              <a:t>Consulte le tableau de bord statistique</a:t>
            </a:r>
            <a:endParaRPr lang="en-US" sz="1400" dirty="0"/>
          </a:p>
        </p:txBody>
      </p:sp>
      <p:sp>
        <p:nvSpPr>
          <p:cNvPr id="14" name="Text 12"/>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673"/>
                </a:solidFill>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A6192E"/>
                </a:solidFill>
                <a:latin typeface="Calibri" pitchFamily="34" charset="0"/>
                <a:ea typeface="Calibri" pitchFamily="34" charset="-122"/>
                <a:cs typeface="Calibri" pitchFamily="34" charset="-120"/>
              </a:rPr>
              <a:t>FONCTIONNALITÉS</a:t>
            </a:r>
            <a:endParaRPr lang="en-US" sz="1300" dirty="0"/>
          </a:p>
        </p:txBody>
      </p:sp>
      <p:sp>
        <p:nvSpPr>
          <p:cNvPr id="3" name="Text 1"/>
          <p:cNvSpPr txBox="1"/>
          <p:nvPr/>
        </p:nvSpPr>
        <p:spPr>
          <a:xfrm>
            <a:off x="640080" y="777240"/>
            <a:ext cx="10908792" cy="731520"/>
          </a:xfrm>
          <a:prstGeom prst="rect">
            <a:avLst/>
          </a:prstGeom>
          <a:noFill/>
          <a:ln/>
        </p:spPr>
        <p:txBody>
          <a:bodyPr wrap="square" lIns="0" tIns="0" rIns="0" bIns="0" rtlCol="0" anchor="ctr"/>
          <a:lstStyle/>
          <a:p>
            <a:pPr indent="0" marL="0">
              <a:buNone/>
            </a:pPr>
            <a:r>
              <a:rPr lang="en-US" sz="3200" b="1" dirty="0">
                <a:solidFill>
                  <a:srgbClr val="1F4E79"/>
                </a:solidFill>
                <a:latin typeface="Cambria" pitchFamily="34" charset="0"/>
                <a:ea typeface="Cambria" pitchFamily="34" charset="-122"/>
                <a:cs typeface="Cambria" pitchFamily="34" charset="-120"/>
              </a:rPr>
              <a:t>Six fonctionnalités clés</a:t>
            </a:r>
            <a:endParaRPr lang="en-US" sz="3200" dirty="0"/>
          </a:p>
        </p:txBody>
      </p:sp>
      <p:sp>
        <p:nvSpPr>
          <p:cNvPr id="4" name="Shape 2"/>
          <p:cNvSpPr/>
          <p:nvPr/>
        </p:nvSpPr>
        <p:spPr>
          <a:xfrm>
            <a:off x="640080" y="1783080"/>
            <a:ext cx="3520440" cy="1965960"/>
          </a:xfrm>
          <a:prstGeom prst="roundRect">
            <a:avLst>
              <a:gd name="adj" fmla="val 4651"/>
            </a:avLst>
          </a:prstGeom>
          <a:solidFill>
            <a:srgbClr val="E9EEF5"/>
          </a:solidFill>
          <a:ln/>
          <a:effectLst>
            <a:outerShdw sx="100000" sy="100000" kx="0" ky="0" algn="bl" rotWithShape="0" blurRad="101600" dist="38100" dir="5400000">
              <a:srgbClr val="1F2328">
                <a:alpha val="18000"/>
              </a:srgbClr>
            </a:outerShdw>
          </a:effectLst>
        </p:spPr>
      </p:sp>
      <p:sp>
        <p:nvSpPr>
          <p:cNvPr id="5" name="Shape 3"/>
          <p:cNvSpPr/>
          <p:nvPr/>
        </p:nvSpPr>
        <p:spPr>
          <a:xfrm>
            <a:off x="868680" y="2011680"/>
            <a:ext cx="548640" cy="548640"/>
          </a:xfrm>
          <a:prstGeom prst="ellipse">
            <a:avLst/>
          </a:prstGeom>
          <a:solidFill>
            <a:srgbClr val="1F4E79"/>
          </a:solidFill>
          <a:ln/>
        </p:spPr>
      </p:sp>
      <p:sp>
        <p:nvSpPr>
          <p:cNvPr id="6" name="Text 4"/>
          <p:cNvSpPr txBox="1"/>
          <p:nvPr/>
        </p:nvSpPr>
        <p:spPr>
          <a:xfrm>
            <a:off x="868680" y="2011680"/>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7" name="Text 5"/>
          <p:cNvSpPr txBox="1"/>
          <p:nvPr/>
        </p:nvSpPr>
        <p:spPr>
          <a:xfrm>
            <a:off x="1554480" y="1984248"/>
            <a:ext cx="2423160" cy="365760"/>
          </a:xfrm>
          <a:prstGeom prst="rect">
            <a:avLst/>
          </a:prstGeom>
          <a:noFill/>
          <a:ln/>
        </p:spPr>
        <p:txBody>
          <a:bodyPr wrap="square" lIns="0" tIns="0" rIns="0" bIns="0" rtlCol="0" anchor="ctr"/>
          <a:lstStyle/>
          <a:p>
            <a:pPr indent="0" marL="0">
              <a:buNone/>
            </a:pPr>
            <a:r>
              <a:rPr lang="en-US" sz="1450" b="1" dirty="0">
                <a:solidFill>
                  <a:srgbClr val="1F4E79"/>
                </a:solidFill>
                <a:latin typeface="Calibri" pitchFamily="34" charset="0"/>
                <a:ea typeface="Calibri" pitchFamily="34" charset="-122"/>
                <a:cs typeface="Calibri" pitchFamily="34" charset="-120"/>
              </a:rPr>
              <a:t>Authentification</a:t>
            </a:r>
            <a:endParaRPr lang="en-US" sz="1450" dirty="0"/>
          </a:p>
        </p:txBody>
      </p:sp>
      <p:sp>
        <p:nvSpPr>
          <p:cNvPr id="8" name="Text 6"/>
          <p:cNvSpPr txBox="1"/>
          <p:nvPr/>
        </p:nvSpPr>
        <p:spPr>
          <a:xfrm>
            <a:off x="868680" y="2697480"/>
            <a:ext cx="3063240" cy="914400"/>
          </a:xfrm>
          <a:prstGeom prst="rect">
            <a:avLst/>
          </a:prstGeom>
          <a:noFill/>
          <a:ln/>
        </p:spPr>
        <p:txBody>
          <a:bodyPr wrap="square" lIns="0" tIns="0" rIns="0" bIns="0" rtlCol="0" anchor="ctr"/>
          <a:lstStyle/>
          <a:p>
            <a:pPr indent="0" marL="0">
              <a:lnSpc>
                <a:spcPct val="120000"/>
              </a:lnSpc>
              <a:buNone/>
            </a:pPr>
            <a:r>
              <a:rPr lang="en-US" sz="1150" dirty="0">
                <a:solidFill>
                  <a:srgbClr val="5B6673"/>
                </a:solidFill>
                <a:latin typeface="Calibri" pitchFamily="34" charset="0"/>
                <a:ea typeface="Calibri" pitchFamily="34" charset="-122"/>
                <a:cs typeface="Calibri" pitchFamily="34" charset="-120"/>
              </a:rPr>
              <a:t>Inscription et connexion sécurisées par token.</a:t>
            </a:r>
            <a:endParaRPr lang="en-US" sz="1150" dirty="0"/>
          </a:p>
        </p:txBody>
      </p:sp>
      <p:sp>
        <p:nvSpPr>
          <p:cNvPr id="9" name="Shape 7"/>
          <p:cNvSpPr/>
          <p:nvPr/>
        </p:nvSpPr>
        <p:spPr>
          <a:xfrm>
            <a:off x="4416552" y="1783080"/>
            <a:ext cx="3520440" cy="1965960"/>
          </a:xfrm>
          <a:prstGeom prst="roundRect">
            <a:avLst>
              <a:gd name="adj" fmla="val 4651"/>
            </a:avLst>
          </a:prstGeom>
          <a:solidFill>
            <a:srgbClr val="E9EEF5"/>
          </a:solidFill>
          <a:ln/>
          <a:effectLst>
            <a:outerShdw sx="100000" sy="100000" kx="0" ky="0" algn="bl" rotWithShape="0" blurRad="101600" dist="38100" dir="5400000">
              <a:srgbClr val="1F2328">
                <a:alpha val="18000"/>
              </a:srgbClr>
            </a:outerShdw>
          </a:effectLst>
        </p:spPr>
      </p:sp>
      <p:sp>
        <p:nvSpPr>
          <p:cNvPr id="10" name="Shape 8"/>
          <p:cNvSpPr/>
          <p:nvPr/>
        </p:nvSpPr>
        <p:spPr>
          <a:xfrm>
            <a:off x="4645152" y="2011680"/>
            <a:ext cx="548640" cy="548640"/>
          </a:xfrm>
          <a:prstGeom prst="ellipse">
            <a:avLst/>
          </a:prstGeom>
          <a:solidFill>
            <a:srgbClr val="1F4E79"/>
          </a:solidFill>
          <a:ln/>
        </p:spPr>
      </p:sp>
      <p:sp>
        <p:nvSpPr>
          <p:cNvPr id="11" name="Text 9"/>
          <p:cNvSpPr txBox="1"/>
          <p:nvPr/>
        </p:nvSpPr>
        <p:spPr>
          <a:xfrm>
            <a:off x="4645152" y="2011680"/>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2" name="Text 10"/>
          <p:cNvSpPr txBox="1"/>
          <p:nvPr/>
        </p:nvSpPr>
        <p:spPr>
          <a:xfrm>
            <a:off x="5330952" y="1984248"/>
            <a:ext cx="2423160" cy="365760"/>
          </a:xfrm>
          <a:prstGeom prst="rect">
            <a:avLst/>
          </a:prstGeom>
          <a:noFill/>
          <a:ln/>
        </p:spPr>
        <p:txBody>
          <a:bodyPr wrap="square" lIns="0" tIns="0" rIns="0" bIns="0" rtlCol="0" anchor="ctr"/>
          <a:lstStyle/>
          <a:p>
            <a:pPr indent="0" marL="0">
              <a:buNone/>
            </a:pPr>
            <a:r>
              <a:rPr lang="en-US" sz="1450" b="1" dirty="0">
                <a:solidFill>
                  <a:srgbClr val="1F4E79"/>
                </a:solidFill>
                <a:latin typeface="Calibri" pitchFamily="34" charset="0"/>
                <a:ea typeface="Calibri" pitchFamily="34" charset="-122"/>
                <a:cs typeface="Calibri" pitchFamily="34" charset="-120"/>
              </a:rPr>
              <a:t>Signalement</a:t>
            </a:r>
            <a:endParaRPr lang="en-US" sz="1450" dirty="0"/>
          </a:p>
        </p:txBody>
      </p:sp>
      <p:sp>
        <p:nvSpPr>
          <p:cNvPr id="13" name="Text 11"/>
          <p:cNvSpPr txBox="1"/>
          <p:nvPr/>
        </p:nvSpPr>
        <p:spPr>
          <a:xfrm>
            <a:off x="4645152" y="2697480"/>
            <a:ext cx="3063240" cy="914400"/>
          </a:xfrm>
          <a:prstGeom prst="rect">
            <a:avLst/>
          </a:prstGeom>
          <a:noFill/>
          <a:ln/>
        </p:spPr>
        <p:txBody>
          <a:bodyPr wrap="square" lIns="0" tIns="0" rIns="0" bIns="0" rtlCol="0" anchor="ctr"/>
          <a:lstStyle/>
          <a:p>
            <a:pPr indent="0" marL="0">
              <a:lnSpc>
                <a:spcPct val="120000"/>
              </a:lnSpc>
              <a:buNone/>
            </a:pPr>
            <a:r>
              <a:rPr lang="en-US" sz="1150" dirty="0">
                <a:solidFill>
                  <a:srgbClr val="5B6673"/>
                </a:solidFill>
                <a:latin typeface="Calibri" pitchFamily="34" charset="0"/>
                <a:ea typeface="Calibri" pitchFamily="34" charset="-122"/>
                <a:cs typeface="Calibri" pitchFamily="34" charset="-120"/>
              </a:rPr>
              <a:t>Catégorie, titre, description, quartier, photo.</a:t>
            </a:r>
            <a:endParaRPr lang="en-US" sz="1150" dirty="0"/>
          </a:p>
        </p:txBody>
      </p:sp>
      <p:sp>
        <p:nvSpPr>
          <p:cNvPr id="14" name="Shape 12"/>
          <p:cNvSpPr/>
          <p:nvPr/>
        </p:nvSpPr>
        <p:spPr>
          <a:xfrm>
            <a:off x="8193024" y="1783080"/>
            <a:ext cx="3520440" cy="1965960"/>
          </a:xfrm>
          <a:prstGeom prst="roundRect">
            <a:avLst>
              <a:gd name="adj" fmla="val 4651"/>
            </a:avLst>
          </a:prstGeom>
          <a:solidFill>
            <a:srgbClr val="E9EEF5"/>
          </a:solidFill>
          <a:ln/>
          <a:effectLst>
            <a:outerShdw sx="100000" sy="100000" kx="0" ky="0" algn="bl" rotWithShape="0" blurRad="101600" dist="38100" dir="5400000">
              <a:srgbClr val="1F2328">
                <a:alpha val="18000"/>
              </a:srgbClr>
            </a:outerShdw>
          </a:effectLst>
        </p:spPr>
      </p:sp>
      <p:sp>
        <p:nvSpPr>
          <p:cNvPr id="15" name="Shape 13"/>
          <p:cNvSpPr/>
          <p:nvPr/>
        </p:nvSpPr>
        <p:spPr>
          <a:xfrm>
            <a:off x="8421624" y="2011680"/>
            <a:ext cx="548640" cy="548640"/>
          </a:xfrm>
          <a:prstGeom prst="ellipse">
            <a:avLst/>
          </a:prstGeom>
          <a:solidFill>
            <a:srgbClr val="1F4E79"/>
          </a:solidFill>
          <a:ln/>
        </p:spPr>
      </p:sp>
      <p:sp>
        <p:nvSpPr>
          <p:cNvPr id="16" name="Text 14"/>
          <p:cNvSpPr txBox="1"/>
          <p:nvPr/>
        </p:nvSpPr>
        <p:spPr>
          <a:xfrm>
            <a:off x="8421624" y="2011680"/>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7" name="Text 15"/>
          <p:cNvSpPr txBox="1"/>
          <p:nvPr/>
        </p:nvSpPr>
        <p:spPr>
          <a:xfrm>
            <a:off x="9107424" y="1984248"/>
            <a:ext cx="2423160" cy="365760"/>
          </a:xfrm>
          <a:prstGeom prst="rect">
            <a:avLst/>
          </a:prstGeom>
          <a:noFill/>
          <a:ln/>
        </p:spPr>
        <p:txBody>
          <a:bodyPr wrap="square" lIns="0" tIns="0" rIns="0" bIns="0" rtlCol="0" anchor="ctr"/>
          <a:lstStyle/>
          <a:p>
            <a:pPr indent="0" marL="0">
              <a:buNone/>
            </a:pPr>
            <a:r>
              <a:rPr lang="en-US" sz="1450" b="1" dirty="0">
                <a:solidFill>
                  <a:srgbClr val="1F4E79"/>
                </a:solidFill>
                <a:latin typeface="Calibri" pitchFamily="34" charset="0"/>
                <a:ea typeface="Calibri" pitchFamily="34" charset="-122"/>
                <a:cs typeface="Calibri" pitchFamily="34" charset="-120"/>
              </a:rPr>
              <a:t>Suivi de statut</a:t>
            </a:r>
            <a:endParaRPr lang="en-US" sz="1450" dirty="0"/>
          </a:p>
        </p:txBody>
      </p:sp>
      <p:sp>
        <p:nvSpPr>
          <p:cNvPr id="18" name="Text 16"/>
          <p:cNvSpPr txBox="1"/>
          <p:nvPr/>
        </p:nvSpPr>
        <p:spPr>
          <a:xfrm>
            <a:off x="8421624" y="2697480"/>
            <a:ext cx="3063240" cy="914400"/>
          </a:xfrm>
          <a:prstGeom prst="rect">
            <a:avLst/>
          </a:prstGeom>
          <a:noFill/>
          <a:ln/>
        </p:spPr>
        <p:txBody>
          <a:bodyPr wrap="square" lIns="0" tIns="0" rIns="0" bIns="0" rtlCol="0" anchor="ctr"/>
          <a:lstStyle/>
          <a:p>
            <a:pPr indent="0" marL="0">
              <a:lnSpc>
                <a:spcPct val="120000"/>
              </a:lnSpc>
              <a:buNone/>
            </a:pPr>
            <a:r>
              <a:rPr lang="en-US" sz="1150" dirty="0">
                <a:solidFill>
                  <a:srgbClr val="5B6673"/>
                </a:solidFill>
                <a:latin typeface="Calibri" pitchFamily="34" charset="0"/>
                <a:ea typeface="Calibri" pitchFamily="34" charset="-122"/>
                <a:cs typeface="Calibri" pitchFamily="34" charset="-120"/>
              </a:rPr>
              <a:t>Nouveau, en cours, résolu ou rejeté.</a:t>
            </a:r>
            <a:endParaRPr lang="en-US" sz="1150" dirty="0"/>
          </a:p>
        </p:txBody>
      </p:sp>
      <p:sp>
        <p:nvSpPr>
          <p:cNvPr id="19" name="Shape 17"/>
          <p:cNvSpPr/>
          <p:nvPr/>
        </p:nvSpPr>
        <p:spPr>
          <a:xfrm>
            <a:off x="640080" y="4005072"/>
            <a:ext cx="3520440" cy="1965960"/>
          </a:xfrm>
          <a:prstGeom prst="roundRect">
            <a:avLst>
              <a:gd name="adj" fmla="val 4651"/>
            </a:avLst>
          </a:prstGeom>
          <a:solidFill>
            <a:srgbClr val="E9EEF5"/>
          </a:solidFill>
          <a:ln/>
          <a:effectLst>
            <a:outerShdw sx="100000" sy="100000" kx="0" ky="0" algn="bl" rotWithShape="0" blurRad="101600" dist="38100" dir="5400000">
              <a:srgbClr val="1F2328">
                <a:alpha val="18000"/>
              </a:srgbClr>
            </a:outerShdw>
          </a:effectLst>
        </p:spPr>
      </p:sp>
      <p:sp>
        <p:nvSpPr>
          <p:cNvPr id="20" name="Shape 18"/>
          <p:cNvSpPr/>
          <p:nvPr/>
        </p:nvSpPr>
        <p:spPr>
          <a:xfrm>
            <a:off x="868680" y="4233672"/>
            <a:ext cx="548640" cy="548640"/>
          </a:xfrm>
          <a:prstGeom prst="ellipse">
            <a:avLst/>
          </a:prstGeom>
          <a:solidFill>
            <a:srgbClr val="1F4E79"/>
          </a:solidFill>
          <a:ln/>
        </p:spPr>
      </p:sp>
      <p:sp>
        <p:nvSpPr>
          <p:cNvPr id="21" name="Text 19"/>
          <p:cNvSpPr txBox="1"/>
          <p:nvPr/>
        </p:nvSpPr>
        <p:spPr>
          <a:xfrm>
            <a:off x="868680" y="4233672"/>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2" name="Text 20"/>
          <p:cNvSpPr txBox="1"/>
          <p:nvPr/>
        </p:nvSpPr>
        <p:spPr>
          <a:xfrm>
            <a:off x="1554480" y="4206240"/>
            <a:ext cx="2423160" cy="365760"/>
          </a:xfrm>
          <a:prstGeom prst="rect">
            <a:avLst/>
          </a:prstGeom>
          <a:noFill/>
          <a:ln/>
        </p:spPr>
        <p:txBody>
          <a:bodyPr wrap="square" lIns="0" tIns="0" rIns="0" bIns="0" rtlCol="0" anchor="ctr"/>
          <a:lstStyle/>
          <a:p>
            <a:pPr indent="0" marL="0">
              <a:buNone/>
            </a:pPr>
            <a:r>
              <a:rPr lang="en-US" sz="1450" b="1" dirty="0">
                <a:solidFill>
                  <a:srgbClr val="1F4E79"/>
                </a:solidFill>
                <a:latin typeface="Calibri" pitchFamily="34" charset="0"/>
                <a:ea typeface="Calibri" pitchFamily="34" charset="-122"/>
                <a:cs typeface="Calibri" pitchFamily="34" charset="-120"/>
              </a:rPr>
              <a:t>Interventions</a:t>
            </a:r>
            <a:endParaRPr lang="en-US" sz="1450" dirty="0"/>
          </a:p>
        </p:txBody>
      </p:sp>
      <p:sp>
        <p:nvSpPr>
          <p:cNvPr id="23" name="Text 21"/>
          <p:cNvSpPr txBox="1"/>
          <p:nvPr/>
        </p:nvSpPr>
        <p:spPr>
          <a:xfrm>
            <a:off x="868680" y="4919472"/>
            <a:ext cx="3063240" cy="914400"/>
          </a:xfrm>
          <a:prstGeom prst="rect">
            <a:avLst/>
          </a:prstGeom>
          <a:noFill/>
          <a:ln/>
        </p:spPr>
        <p:txBody>
          <a:bodyPr wrap="square" lIns="0" tIns="0" rIns="0" bIns="0" rtlCol="0" anchor="ctr"/>
          <a:lstStyle/>
          <a:p>
            <a:pPr indent="0" marL="0">
              <a:lnSpc>
                <a:spcPct val="120000"/>
              </a:lnSpc>
              <a:buNone/>
            </a:pPr>
            <a:r>
              <a:rPr lang="en-US" sz="1150" dirty="0">
                <a:solidFill>
                  <a:srgbClr val="5B6673"/>
                </a:solidFill>
                <a:latin typeface="Calibri" pitchFamily="34" charset="0"/>
                <a:ea typeface="Calibri" pitchFamily="34" charset="-122"/>
                <a:cs typeface="Calibri" pitchFamily="34" charset="-120"/>
              </a:rPr>
              <a:t>Historique horodaté des actions de l'agent.</a:t>
            </a:r>
            <a:endParaRPr lang="en-US" sz="1150" dirty="0"/>
          </a:p>
        </p:txBody>
      </p:sp>
      <p:sp>
        <p:nvSpPr>
          <p:cNvPr id="24" name="Shape 22"/>
          <p:cNvSpPr/>
          <p:nvPr/>
        </p:nvSpPr>
        <p:spPr>
          <a:xfrm>
            <a:off x="4416552" y="4005072"/>
            <a:ext cx="3520440" cy="1965960"/>
          </a:xfrm>
          <a:prstGeom prst="roundRect">
            <a:avLst>
              <a:gd name="adj" fmla="val 4651"/>
            </a:avLst>
          </a:prstGeom>
          <a:solidFill>
            <a:srgbClr val="E9EEF5"/>
          </a:solidFill>
          <a:ln/>
          <a:effectLst>
            <a:outerShdw sx="100000" sy="100000" kx="0" ky="0" algn="bl" rotWithShape="0" blurRad="101600" dist="38100" dir="5400000">
              <a:srgbClr val="1F2328">
                <a:alpha val="18000"/>
              </a:srgbClr>
            </a:outerShdw>
          </a:effectLst>
        </p:spPr>
      </p:sp>
      <p:sp>
        <p:nvSpPr>
          <p:cNvPr id="25" name="Shape 23"/>
          <p:cNvSpPr/>
          <p:nvPr/>
        </p:nvSpPr>
        <p:spPr>
          <a:xfrm>
            <a:off x="4645152" y="4233672"/>
            <a:ext cx="548640" cy="548640"/>
          </a:xfrm>
          <a:prstGeom prst="ellipse">
            <a:avLst/>
          </a:prstGeom>
          <a:solidFill>
            <a:srgbClr val="1F4E79"/>
          </a:solidFill>
          <a:ln/>
        </p:spPr>
      </p:sp>
      <p:sp>
        <p:nvSpPr>
          <p:cNvPr id="26" name="Text 24"/>
          <p:cNvSpPr txBox="1"/>
          <p:nvPr/>
        </p:nvSpPr>
        <p:spPr>
          <a:xfrm>
            <a:off x="4645152" y="4233672"/>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7" name="Text 25"/>
          <p:cNvSpPr txBox="1"/>
          <p:nvPr/>
        </p:nvSpPr>
        <p:spPr>
          <a:xfrm>
            <a:off x="5330952" y="4206240"/>
            <a:ext cx="2423160" cy="365760"/>
          </a:xfrm>
          <a:prstGeom prst="rect">
            <a:avLst/>
          </a:prstGeom>
          <a:noFill/>
          <a:ln/>
        </p:spPr>
        <p:txBody>
          <a:bodyPr wrap="square" lIns="0" tIns="0" rIns="0" bIns="0" rtlCol="0" anchor="ctr"/>
          <a:lstStyle/>
          <a:p>
            <a:pPr indent="0" marL="0">
              <a:buNone/>
            </a:pPr>
            <a:r>
              <a:rPr lang="en-US" sz="1450" b="1" dirty="0">
                <a:solidFill>
                  <a:srgbClr val="1F4E79"/>
                </a:solidFill>
                <a:latin typeface="Calibri" pitchFamily="34" charset="0"/>
                <a:ea typeface="Calibri" pitchFamily="34" charset="-122"/>
                <a:cs typeface="Calibri" pitchFamily="34" charset="-120"/>
              </a:rPr>
              <a:t>Notifications</a:t>
            </a:r>
            <a:endParaRPr lang="en-US" sz="1450" dirty="0"/>
          </a:p>
        </p:txBody>
      </p:sp>
      <p:sp>
        <p:nvSpPr>
          <p:cNvPr id="28" name="Text 26"/>
          <p:cNvSpPr txBox="1"/>
          <p:nvPr/>
        </p:nvSpPr>
        <p:spPr>
          <a:xfrm>
            <a:off x="4645152" y="4919472"/>
            <a:ext cx="3063240" cy="914400"/>
          </a:xfrm>
          <a:prstGeom prst="rect">
            <a:avLst/>
          </a:prstGeom>
          <a:noFill/>
          <a:ln/>
        </p:spPr>
        <p:txBody>
          <a:bodyPr wrap="square" lIns="0" tIns="0" rIns="0" bIns="0" rtlCol="0" anchor="ctr"/>
          <a:lstStyle/>
          <a:p>
            <a:pPr indent="0" marL="0">
              <a:lnSpc>
                <a:spcPct val="120000"/>
              </a:lnSpc>
              <a:buNone/>
            </a:pPr>
            <a:r>
              <a:rPr lang="en-US" sz="1150" dirty="0">
                <a:solidFill>
                  <a:srgbClr val="5B6673"/>
                </a:solidFill>
                <a:latin typeface="Calibri" pitchFamily="34" charset="0"/>
                <a:ea typeface="Calibri" pitchFamily="34" charset="-122"/>
                <a:cs typeface="Calibri" pitchFamily="34" charset="-120"/>
              </a:rPr>
              <a:t>Alerte automatique à chaque changement.</a:t>
            </a:r>
            <a:endParaRPr lang="en-US" sz="1150" dirty="0"/>
          </a:p>
        </p:txBody>
      </p:sp>
      <p:sp>
        <p:nvSpPr>
          <p:cNvPr id="29" name="Shape 27"/>
          <p:cNvSpPr/>
          <p:nvPr/>
        </p:nvSpPr>
        <p:spPr>
          <a:xfrm>
            <a:off x="8193024" y="4005072"/>
            <a:ext cx="3520440" cy="1965960"/>
          </a:xfrm>
          <a:prstGeom prst="roundRect">
            <a:avLst>
              <a:gd name="adj" fmla="val 4651"/>
            </a:avLst>
          </a:prstGeom>
          <a:solidFill>
            <a:srgbClr val="E9EEF5"/>
          </a:solidFill>
          <a:ln/>
          <a:effectLst>
            <a:outerShdw sx="100000" sy="100000" kx="0" ky="0" algn="bl" rotWithShape="0" blurRad="101600" dist="38100" dir="5400000">
              <a:srgbClr val="1F2328">
                <a:alpha val="18000"/>
              </a:srgbClr>
            </a:outerShdw>
          </a:effectLst>
        </p:spPr>
      </p:sp>
      <p:sp>
        <p:nvSpPr>
          <p:cNvPr id="30" name="Shape 28"/>
          <p:cNvSpPr/>
          <p:nvPr/>
        </p:nvSpPr>
        <p:spPr>
          <a:xfrm>
            <a:off x="8421624" y="4233672"/>
            <a:ext cx="548640" cy="548640"/>
          </a:xfrm>
          <a:prstGeom prst="ellipse">
            <a:avLst/>
          </a:prstGeom>
          <a:solidFill>
            <a:srgbClr val="1F4E79"/>
          </a:solidFill>
          <a:ln/>
        </p:spPr>
      </p:sp>
      <p:sp>
        <p:nvSpPr>
          <p:cNvPr id="31" name="Text 29"/>
          <p:cNvSpPr txBox="1"/>
          <p:nvPr/>
        </p:nvSpPr>
        <p:spPr>
          <a:xfrm>
            <a:off x="8421624" y="4233672"/>
            <a:ext cx="548640" cy="54864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Text 30"/>
          <p:cNvSpPr txBox="1"/>
          <p:nvPr/>
        </p:nvSpPr>
        <p:spPr>
          <a:xfrm>
            <a:off x="9107424" y="4206240"/>
            <a:ext cx="2423160" cy="365760"/>
          </a:xfrm>
          <a:prstGeom prst="rect">
            <a:avLst/>
          </a:prstGeom>
          <a:noFill/>
          <a:ln/>
        </p:spPr>
        <p:txBody>
          <a:bodyPr wrap="square" lIns="0" tIns="0" rIns="0" bIns="0" rtlCol="0" anchor="ctr"/>
          <a:lstStyle/>
          <a:p>
            <a:pPr indent="0" marL="0">
              <a:buNone/>
            </a:pPr>
            <a:r>
              <a:rPr lang="en-US" sz="1450" b="1" dirty="0">
                <a:solidFill>
                  <a:srgbClr val="1F4E79"/>
                </a:solidFill>
                <a:latin typeface="Calibri" pitchFamily="34" charset="0"/>
                <a:ea typeface="Calibri" pitchFamily="34" charset="-122"/>
                <a:cs typeface="Calibri" pitchFamily="34" charset="-120"/>
              </a:rPr>
              <a:t>Tableau de bord</a:t>
            </a:r>
            <a:endParaRPr lang="en-US" sz="1450" dirty="0"/>
          </a:p>
        </p:txBody>
      </p:sp>
      <p:sp>
        <p:nvSpPr>
          <p:cNvPr id="33" name="Text 31"/>
          <p:cNvSpPr txBox="1"/>
          <p:nvPr/>
        </p:nvSpPr>
        <p:spPr>
          <a:xfrm>
            <a:off x="8421624" y="4919472"/>
            <a:ext cx="3063240" cy="914400"/>
          </a:xfrm>
          <a:prstGeom prst="rect">
            <a:avLst/>
          </a:prstGeom>
          <a:noFill/>
          <a:ln/>
        </p:spPr>
        <p:txBody>
          <a:bodyPr wrap="square" lIns="0" tIns="0" rIns="0" bIns="0" rtlCol="0" anchor="ctr"/>
          <a:lstStyle/>
          <a:p>
            <a:pPr indent="0" marL="0">
              <a:lnSpc>
                <a:spcPct val="120000"/>
              </a:lnSpc>
              <a:buNone/>
            </a:pPr>
            <a:r>
              <a:rPr lang="en-US" sz="1150" dirty="0">
                <a:solidFill>
                  <a:srgbClr val="5B6673"/>
                </a:solidFill>
                <a:latin typeface="Calibri" pitchFamily="34" charset="0"/>
                <a:ea typeface="Calibri" pitchFamily="34" charset="-122"/>
                <a:cs typeface="Calibri" pitchFamily="34" charset="-120"/>
              </a:rPr>
              <a:t>Statistiques par statut, catégorie, quartier.</a:t>
            </a:r>
            <a:endParaRPr lang="en-US" sz="1150" dirty="0"/>
          </a:p>
        </p:txBody>
      </p:sp>
      <p:sp>
        <p:nvSpPr>
          <p:cNvPr id="34" name="Text 32"/>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673"/>
                </a:solidFill>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A6192E"/>
                </a:solidFill>
                <a:latin typeface="Calibri" pitchFamily="34" charset="0"/>
                <a:ea typeface="Calibri" pitchFamily="34" charset="-122"/>
                <a:cs typeface="Calibri" pitchFamily="34" charset="-120"/>
              </a:rPr>
              <a:t>ARCHITECTURE</a:t>
            </a:r>
            <a:endParaRPr lang="en-US" sz="1300" dirty="0"/>
          </a:p>
        </p:txBody>
      </p:sp>
      <p:sp>
        <p:nvSpPr>
          <p:cNvPr id="3" name="Text 1"/>
          <p:cNvSpPr txBox="1"/>
          <p:nvPr/>
        </p:nvSpPr>
        <p:spPr>
          <a:xfrm>
            <a:off x="640080" y="777240"/>
            <a:ext cx="10908792" cy="731520"/>
          </a:xfrm>
          <a:prstGeom prst="rect">
            <a:avLst/>
          </a:prstGeom>
          <a:noFill/>
          <a:ln/>
        </p:spPr>
        <p:txBody>
          <a:bodyPr wrap="square" lIns="0" tIns="0" rIns="0" bIns="0" rtlCol="0" anchor="ctr"/>
          <a:lstStyle/>
          <a:p>
            <a:pPr indent="0" marL="0">
              <a:buNone/>
            </a:pPr>
            <a:r>
              <a:rPr lang="en-US" sz="3200" b="1" dirty="0">
                <a:solidFill>
                  <a:srgbClr val="1F4E79"/>
                </a:solidFill>
                <a:latin typeface="Cambria" pitchFamily="34" charset="0"/>
                <a:ea typeface="Cambria" pitchFamily="34" charset="-122"/>
                <a:cs typeface="Cambria" pitchFamily="34" charset="-120"/>
              </a:rPr>
              <a:t>Une architecture client-serveur simple</a:t>
            </a:r>
            <a:endParaRPr lang="en-US" sz="3200" dirty="0"/>
          </a:p>
        </p:txBody>
      </p:sp>
      <p:sp>
        <p:nvSpPr>
          <p:cNvPr id="4" name="Shape 2"/>
          <p:cNvSpPr/>
          <p:nvPr/>
        </p:nvSpPr>
        <p:spPr>
          <a:xfrm>
            <a:off x="822960" y="2468880"/>
            <a:ext cx="3017520" cy="2103120"/>
          </a:xfrm>
          <a:prstGeom prst="roundRect">
            <a:avLst>
              <a:gd name="adj" fmla="val 5217"/>
            </a:avLst>
          </a:prstGeom>
          <a:solidFill>
            <a:srgbClr val="E9EEF5"/>
          </a:solidFill>
          <a:ln/>
          <a:effectLst>
            <a:outerShdw sx="100000" sy="100000" kx="0" ky="0" algn="bl" rotWithShape="0" blurRad="101600" dist="38100" dir="5400000">
              <a:srgbClr val="1F2328">
                <a:alpha val="18000"/>
              </a:srgbClr>
            </a:outerShdw>
          </a:effectLst>
        </p:spPr>
      </p:sp>
      <p:sp>
        <p:nvSpPr>
          <p:cNvPr id="5" name="Text 3"/>
          <p:cNvSpPr txBox="1"/>
          <p:nvPr/>
        </p:nvSpPr>
        <p:spPr>
          <a:xfrm>
            <a:off x="822960" y="2697480"/>
            <a:ext cx="301752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6" name="Text 4"/>
          <p:cNvSpPr txBox="1"/>
          <p:nvPr/>
        </p:nvSpPr>
        <p:spPr>
          <a:xfrm>
            <a:off x="960120" y="3337560"/>
            <a:ext cx="2743200" cy="411480"/>
          </a:xfrm>
          <a:prstGeom prst="rect">
            <a:avLst/>
          </a:prstGeom>
          <a:noFill/>
          <a:ln/>
        </p:spPr>
        <p:txBody>
          <a:bodyPr wrap="square" lIns="0" tIns="0" rIns="0" bIns="0" rtlCol="0" anchor="ctr"/>
          <a:lstStyle/>
          <a:p>
            <a:pPr algn="ctr" indent="0" marL="0">
              <a:buNone/>
            </a:pPr>
            <a:r>
              <a:rPr lang="en-US" sz="1500" b="1" dirty="0">
                <a:solidFill>
                  <a:srgbClr val="1F4E79"/>
                </a:solidFill>
                <a:latin typeface="Calibri" pitchFamily="34" charset="0"/>
                <a:ea typeface="Calibri" pitchFamily="34" charset="-122"/>
                <a:cs typeface="Calibri" pitchFamily="34" charset="-120"/>
              </a:rPr>
              <a:t>Front-end React</a:t>
            </a:r>
            <a:endParaRPr lang="en-US" sz="1500" dirty="0"/>
          </a:p>
        </p:txBody>
      </p:sp>
      <p:sp>
        <p:nvSpPr>
          <p:cNvPr id="7" name="Text 5"/>
          <p:cNvSpPr txBox="1"/>
          <p:nvPr/>
        </p:nvSpPr>
        <p:spPr>
          <a:xfrm>
            <a:off x="960120" y="3749040"/>
            <a:ext cx="2743200" cy="731520"/>
          </a:xfrm>
          <a:prstGeom prst="rect">
            <a:avLst/>
          </a:prstGeom>
          <a:noFill/>
          <a:ln/>
        </p:spPr>
        <p:txBody>
          <a:bodyPr wrap="square" lIns="0" tIns="0" rIns="0" bIns="0" rtlCol="0" anchor="ctr"/>
          <a:lstStyle/>
          <a:p>
            <a:pPr algn="ctr" indent="0" marL="0">
              <a:lnSpc>
                <a:spcPct val="120000"/>
              </a:lnSpc>
              <a:buNone/>
            </a:pPr>
            <a:r>
              <a:rPr lang="en-US" sz="1150" dirty="0">
                <a:solidFill>
                  <a:srgbClr val="5B6673"/>
                </a:solidFill>
                <a:latin typeface="Calibri" pitchFamily="34" charset="0"/>
                <a:ea typeface="Calibri" pitchFamily="34" charset="-122"/>
                <a:cs typeface="Calibri" pitchFamily="34" charset="-120"/>
              </a:rPr>
              <a:t>Vite, react-router-dom,</a:t>
            </a:r>
            <a:endParaRPr lang="en-US" sz="1150" dirty="0"/>
          </a:p>
          <a:p>
            <a:pPr algn="ctr" indent="0" marL="0">
              <a:lnSpc>
                <a:spcPct val="120000"/>
              </a:lnSpc>
              <a:buNone/>
            </a:pPr>
            <a:r>
              <a:rPr lang="en-US" sz="1150" dirty="0">
                <a:solidFill>
                  <a:srgbClr val="5B6673"/>
                </a:solidFill>
                <a:latin typeface="Calibri" pitchFamily="34" charset="0"/>
                <a:ea typeface="Calibri" pitchFamily="34" charset="-122"/>
                <a:cs typeface="Calibri" pitchFamily="34" charset="-120"/>
              </a:rPr>
              <a:t>Axios, Context API</a:t>
            </a:r>
            <a:endParaRPr lang="en-US" sz="1150" dirty="0"/>
          </a:p>
        </p:txBody>
      </p:sp>
      <p:sp>
        <p:nvSpPr>
          <p:cNvPr id="8" name="Shape 6"/>
          <p:cNvSpPr/>
          <p:nvPr/>
        </p:nvSpPr>
        <p:spPr>
          <a:xfrm>
            <a:off x="4846320" y="2468880"/>
            <a:ext cx="3017520" cy="2103120"/>
          </a:xfrm>
          <a:prstGeom prst="roundRect">
            <a:avLst>
              <a:gd name="adj" fmla="val 5217"/>
            </a:avLst>
          </a:prstGeom>
          <a:solidFill>
            <a:srgbClr val="1F4E79"/>
          </a:solidFill>
          <a:ln/>
          <a:effectLst>
            <a:outerShdw sx="100000" sy="100000" kx="0" ky="0" algn="bl" rotWithShape="0" blurRad="101600" dist="38100" dir="5400000">
              <a:srgbClr val="1F2328">
                <a:alpha val="18000"/>
              </a:srgbClr>
            </a:outerShdw>
          </a:effectLst>
        </p:spPr>
      </p:sp>
      <p:sp>
        <p:nvSpPr>
          <p:cNvPr id="9" name="Text 7"/>
          <p:cNvSpPr txBox="1"/>
          <p:nvPr/>
        </p:nvSpPr>
        <p:spPr>
          <a:xfrm>
            <a:off x="4846320" y="2697480"/>
            <a:ext cx="301752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0" name="Text 8"/>
          <p:cNvSpPr txBox="1"/>
          <p:nvPr/>
        </p:nvSpPr>
        <p:spPr>
          <a:xfrm>
            <a:off x="4983480" y="3337560"/>
            <a:ext cx="274320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API REST Laravel</a:t>
            </a:r>
            <a:endParaRPr lang="en-US" sz="1500" dirty="0"/>
          </a:p>
        </p:txBody>
      </p:sp>
      <p:sp>
        <p:nvSpPr>
          <p:cNvPr id="11" name="Text 9"/>
          <p:cNvSpPr txBox="1"/>
          <p:nvPr/>
        </p:nvSpPr>
        <p:spPr>
          <a:xfrm>
            <a:off x="4983480" y="3749040"/>
            <a:ext cx="2743200" cy="731520"/>
          </a:xfrm>
          <a:prstGeom prst="rect">
            <a:avLst/>
          </a:prstGeom>
          <a:noFill/>
          <a:ln/>
        </p:spPr>
        <p:txBody>
          <a:bodyPr wrap="square" lIns="0" tIns="0" rIns="0" bIns="0" rtlCol="0" anchor="ctr"/>
          <a:lstStyle/>
          <a:p>
            <a:pPr algn="ctr" indent="0" marL="0">
              <a:lnSpc>
                <a:spcPct val="120000"/>
              </a:lnSpc>
              <a:buNone/>
            </a:pPr>
            <a:r>
              <a:rPr lang="en-US" sz="1150" dirty="0">
                <a:solidFill>
                  <a:srgbClr val="CADCFC"/>
                </a:solidFill>
                <a:latin typeface="Calibri" pitchFamily="34" charset="0"/>
                <a:ea typeface="Calibri" pitchFamily="34" charset="-122"/>
                <a:cs typeface="Calibri" pitchFamily="34" charset="-120"/>
              </a:rPr>
              <a:t>Sanctum, Eloquent,</a:t>
            </a:r>
            <a:endParaRPr lang="en-US" sz="1150" dirty="0"/>
          </a:p>
          <a:p>
            <a:pPr algn="ctr" indent="0" marL="0">
              <a:lnSpc>
                <a:spcPct val="120000"/>
              </a:lnSpc>
              <a:buNone/>
            </a:pPr>
            <a:r>
              <a:rPr lang="en-US" sz="1150" dirty="0">
                <a:solidFill>
                  <a:srgbClr val="CADCFC"/>
                </a:solidFill>
                <a:latin typeface="Calibri" pitchFamily="34" charset="0"/>
                <a:ea typeface="Calibri" pitchFamily="34" charset="-122"/>
                <a:cs typeface="Calibri" pitchFamily="34" charset="-120"/>
              </a:rPr>
              <a:t>policies par rôle</a:t>
            </a:r>
            <a:endParaRPr lang="en-US" sz="1150" dirty="0"/>
          </a:p>
        </p:txBody>
      </p:sp>
      <p:sp>
        <p:nvSpPr>
          <p:cNvPr id="12" name="Shape 10"/>
          <p:cNvSpPr/>
          <p:nvPr/>
        </p:nvSpPr>
        <p:spPr>
          <a:xfrm>
            <a:off x="8869680" y="2468880"/>
            <a:ext cx="3017520" cy="2103120"/>
          </a:xfrm>
          <a:prstGeom prst="roundRect">
            <a:avLst>
              <a:gd name="adj" fmla="val 5217"/>
            </a:avLst>
          </a:prstGeom>
          <a:solidFill>
            <a:srgbClr val="E9EEF5"/>
          </a:solidFill>
          <a:ln/>
          <a:effectLst>
            <a:outerShdw sx="100000" sy="100000" kx="0" ky="0" algn="bl" rotWithShape="0" blurRad="101600" dist="38100" dir="5400000">
              <a:srgbClr val="1F2328">
                <a:alpha val="18000"/>
              </a:srgbClr>
            </a:outerShdw>
          </a:effectLst>
        </p:spPr>
      </p:sp>
      <p:sp>
        <p:nvSpPr>
          <p:cNvPr id="13" name="Text 11"/>
          <p:cNvSpPr txBox="1"/>
          <p:nvPr/>
        </p:nvSpPr>
        <p:spPr>
          <a:xfrm>
            <a:off x="8869680" y="2697480"/>
            <a:ext cx="3017520" cy="54864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4" name="Text 12"/>
          <p:cNvSpPr txBox="1"/>
          <p:nvPr/>
        </p:nvSpPr>
        <p:spPr>
          <a:xfrm>
            <a:off x="9006840" y="3337560"/>
            <a:ext cx="2743200" cy="411480"/>
          </a:xfrm>
          <a:prstGeom prst="rect">
            <a:avLst/>
          </a:prstGeom>
          <a:noFill/>
          <a:ln/>
        </p:spPr>
        <p:txBody>
          <a:bodyPr wrap="square" lIns="0" tIns="0" rIns="0" bIns="0" rtlCol="0" anchor="ctr"/>
          <a:lstStyle/>
          <a:p>
            <a:pPr algn="ctr" indent="0" marL="0">
              <a:buNone/>
            </a:pPr>
            <a:r>
              <a:rPr lang="en-US" sz="1500" b="1" dirty="0">
                <a:solidFill>
                  <a:srgbClr val="1F4E79"/>
                </a:solidFill>
                <a:latin typeface="Calibri" pitchFamily="34" charset="0"/>
                <a:ea typeface="Calibri" pitchFamily="34" charset="-122"/>
                <a:cs typeface="Calibri" pitchFamily="34" charset="-120"/>
              </a:rPr>
              <a:t>Base de données</a:t>
            </a:r>
            <a:endParaRPr lang="en-US" sz="1500" dirty="0"/>
          </a:p>
        </p:txBody>
      </p:sp>
      <p:sp>
        <p:nvSpPr>
          <p:cNvPr id="15" name="Text 13"/>
          <p:cNvSpPr txBox="1"/>
          <p:nvPr/>
        </p:nvSpPr>
        <p:spPr>
          <a:xfrm>
            <a:off x="9006840" y="3749040"/>
            <a:ext cx="2743200" cy="731520"/>
          </a:xfrm>
          <a:prstGeom prst="rect">
            <a:avLst/>
          </a:prstGeom>
          <a:noFill/>
          <a:ln/>
        </p:spPr>
        <p:txBody>
          <a:bodyPr wrap="square" lIns="0" tIns="0" rIns="0" bIns="0" rtlCol="0" anchor="ctr"/>
          <a:lstStyle/>
          <a:p>
            <a:pPr algn="ctr" indent="0" marL="0">
              <a:lnSpc>
                <a:spcPct val="120000"/>
              </a:lnSpc>
              <a:buNone/>
            </a:pPr>
            <a:r>
              <a:rPr lang="en-US" sz="1150" dirty="0">
                <a:solidFill>
                  <a:srgbClr val="5B6673"/>
                </a:solidFill>
                <a:latin typeface="Calibri" pitchFamily="34" charset="0"/>
                <a:ea typeface="Calibri" pitchFamily="34" charset="-122"/>
                <a:cs typeface="Calibri" pitchFamily="34" charset="-120"/>
              </a:rPr>
              <a:t>SQLite embarquée</a:t>
            </a:r>
            <a:endParaRPr lang="en-US" sz="1150" dirty="0"/>
          </a:p>
        </p:txBody>
      </p:sp>
      <p:sp>
        <p:nvSpPr>
          <p:cNvPr id="16" name="Text 14"/>
          <p:cNvSpPr txBox="1"/>
          <p:nvPr/>
        </p:nvSpPr>
        <p:spPr>
          <a:xfrm>
            <a:off x="3794760" y="3017520"/>
            <a:ext cx="1097280" cy="274320"/>
          </a:xfrm>
          <a:prstGeom prst="rect">
            <a:avLst/>
          </a:prstGeom>
          <a:noFill/>
          <a:ln/>
        </p:spPr>
        <p:txBody>
          <a:bodyPr wrap="square" lIns="0" tIns="0" rIns="0" bIns="0" rtlCol="0" anchor="ctr"/>
          <a:lstStyle/>
          <a:p>
            <a:pPr algn="ctr" indent="0" marL="0">
              <a:buNone/>
            </a:pPr>
            <a:r>
              <a:rPr lang="en-US" sz="950" dirty="0">
                <a:solidFill>
                  <a:srgbClr val="5B6673"/>
                </a:solidFill>
                <a:latin typeface="Calibri" pitchFamily="34" charset="0"/>
                <a:ea typeface="Calibri" pitchFamily="34" charset="-122"/>
                <a:cs typeface="Calibri" pitchFamily="34" charset="-120"/>
              </a:rPr>
              <a:t>Requêtes HTTP / JSON</a:t>
            </a:r>
            <a:endParaRPr lang="en-US" sz="950" dirty="0"/>
          </a:p>
        </p:txBody>
      </p:sp>
      <p:sp>
        <p:nvSpPr>
          <p:cNvPr id="17" name="Shape 15"/>
          <p:cNvSpPr/>
          <p:nvPr/>
        </p:nvSpPr>
        <p:spPr>
          <a:xfrm>
            <a:off x="3950208" y="3401568"/>
            <a:ext cx="786384" cy="237744"/>
          </a:xfrm>
          <a:prstGeom prst="rightArrow">
            <a:avLst/>
          </a:prstGeom>
          <a:solidFill>
            <a:srgbClr val="A6192E"/>
          </a:solidFill>
          <a:ln/>
        </p:spPr>
      </p:sp>
      <p:sp>
        <p:nvSpPr>
          <p:cNvPr id="18" name="Text 16"/>
          <p:cNvSpPr txBox="1"/>
          <p:nvPr/>
        </p:nvSpPr>
        <p:spPr>
          <a:xfrm>
            <a:off x="7818120" y="3017520"/>
            <a:ext cx="1097280" cy="274320"/>
          </a:xfrm>
          <a:prstGeom prst="rect">
            <a:avLst/>
          </a:prstGeom>
          <a:noFill/>
          <a:ln/>
        </p:spPr>
        <p:txBody>
          <a:bodyPr wrap="square" lIns="0" tIns="0" rIns="0" bIns="0" rtlCol="0" anchor="ctr"/>
          <a:lstStyle/>
          <a:p>
            <a:pPr algn="ctr" indent="0" marL="0">
              <a:buNone/>
            </a:pPr>
            <a:r>
              <a:rPr lang="en-US" sz="950" dirty="0">
                <a:solidFill>
                  <a:srgbClr val="5B6673"/>
                </a:solidFill>
                <a:latin typeface="Calibri" pitchFamily="34" charset="0"/>
                <a:ea typeface="Calibri" pitchFamily="34" charset="-122"/>
                <a:cs typeface="Calibri" pitchFamily="34" charset="-120"/>
              </a:rPr>
              <a:t>Requêtes HTTP / JSON</a:t>
            </a:r>
            <a:endParaRPr lang="en-US" sz="950" dirty="0"/>
          </a:p>
        </p:txBody>
      </p:sp>
      <p:sp>
        <p:nvSpPr>
          <p:cNvPr id="19" name="Shape 17"/>
          <p:cNvSpPr/>
          <p:nvPr/>
        </p:nvSpPr>
        <p:spPr>
          <a:xfrm>
            <a:off x="7973568" y="3401568"/>
            <a:ext cx="786384" cy="237744"/>
          </a:xfrm>
          <a:prstGeom prst="rightArrow">
            <a:avLst/>
          </a:prstGeom>
          <a:solidFill>
            <a:srgbClr val="A6192E"/>
          </a:solidFill>
          <a:ln/>
        </p:spPr>
      </p:sp>
      <p:sp>
        <p:nvSpPr>
          <p:cNvPr id="20" name="Text 18"/>
          <p:cNvSpPr txBox="1"/>
          <p:nvPr/>
        </p:nvSpPr>
        <p:spPr>
          <a:xfrm>
            <a:off x="822960" y="5029200"/>
            <a:ext cx="10515600" cy="822960"/>
          </a:xfrm>
          <a:prstGeom prst="rect">
            <a:avLst/>
          </a:prstGeom>
          <a:noFill/>
          <a:ln/>
        </p:spPr>
        <p:txBody>
          <a:bodyPr wrap="square" lIns="0" tIns="0" rIns="0" bIns="0" rtlCol="0" anchor="ctr"/>
          <a:lstStyle/>
          <a:p>
            <a:pPr indent="0" marL="0">
              <a:lnSpc>
                <a:spcPct val="125000"/>
              </a:lnSpc>
              <a:buNone/>
            </a:pPr>
            <a:r>
              <a:rPr lang="en-US" sz="1400" dirty="0">
                <a:solidFill>
                  <a:srgbClr val="1F2328"/>
                </a:solidFill>
                <a:latin typeface="Calibri" pitchFamily="34" charset="0"/>
                <a:ea typeface="Calibri" pitchFamily="34" charset="-122"/>
                <a:cs typeface="Calibri" pitchFamily="34" charset="-120"/>
              </a:rPr>
              <a:t>Application monopage (SPA) côté React, communiquant avec une API RESTful Laravel. Authentification par token (Sanctum). Base de données SQLite pour une installation locale sans serveur séparé.</a:t>
            </a:r>
            <a:endParaRPr lang="en-US" sz="1400" dirty="0"/>
          </a:p>
        </p:txBody>
      </p:sp>
      <p:sp>
        <p:nvSpPr>
          <p:cNvPr id="21" name="Text 19"/>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673"/>
                </a:solidFill>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A6192E"/>
                </a:solidFill>
                <a:latin typeface="Calibri" pitchFamily="34" charset="0"/>
                <a:ea typeface="Calibri" pitchFamily="34" charset="-122"/>
                <a:cs typeface="Calibri" pitchFamily="34" charset="-120"/>
              </a:rPr>
              <a:t>MODÈLE DE DONNÉES</a:t>
            </a:r>
            <a:endParaRPr lang="en-US" sz="1300" dirty="0"/>
          </a:p>
        </p:txBody>
      </p:sp>
      <p:sp>
        <p:nvSpPr>
          <p:cNvPr id="3" name="Text 1"/>
          <p:cNvSpPr txBox="1"/>
          <p:nvPr/>
        </p:nvSpPr>
        <p:spPr>
          <a:xfrm>
            <a:off x="640080" y="777240"/>
            <a:ext cx="10908792" cy="731520"/>
          </a:xfrm>
          <a:prstGeom prst="rect">
            <a:avLst/>
          </a:prstGeom>
          <a:noFill/>
          <a:ln/>
        </p:spPr>
        <p:txBody>
          <a:bodyPr wrap="square" lIns="0" tIns="0" rIns="0" bIns="0" rtlCol="0" anchor="ctr"/>
          <a:lstStyle/>
          <a:p>
            <a:pPr indent="0" marL="0">
              <a:buNone/>
            </a:pPr>
            <a:r>
              <a:rPr lang="en-US" sz="3200" b="1" dirty="0">
                <a:solidFill>
                  <a:srgbClr val="1F4E79"/>
                </a:solidFill>
                <a:latin typeface="Cambria" pitchFamily="34" charset="0"/>
                <a:ea typeface="Cambria" pitchFamily="34" charset="-122"/>
                <a:cs typeface="Cambria" pitchFamily="34" charset="-120"/>
              </a:rPr>
              <a:t>Quatre tables, des relations simples</a:t>
            </a:r>
            <a:endParaRPr lang="en-US" sz="3200" dirty="0"/>
          </a:p>
        </p:txBody>
      </p:sp>
      <p:sp>
        <p:nvSpPr>
          <p:cNvPr id="4" name="Shape 2"/>
          <p:cNvSpPr/>
          <p:nvPr/>
        </p:nvSpPr>
        <p:spPr>
          <a:xfrm>
            <a:off x="822960" y="1828800"/>
            <a:ext cx="4389120" cy="1554480"/>
          </a:xfrm>
          <a:prstGeom prst="roundRect">
            <a:avLst>
              <a:gd name="adj" fmla="val 5882"/>
            </a:avLst>
          </a:prstGeom>
          <a:solidFill>
            <a:srgbClr val="E9EEF5"/>
          </a:solidFill>
          <a:ln w="12700">
            <a:solidFill>
              <a:srgbClr val="1F4E79"/>
            </a:solidFill>
            <a:prstDash val="solid"/>
          </a:ln>
          <a:effectLst>
            <a:outerShdw sx="100000" sy="100000" kx="0" ky="0" algn="bl" rotWithShape="0" blurRad="101600" dist="38100" dir="5400000">
              <a:srgbClr val="1F2328">
                <a:alpha val="18000"/>
              </a:srgbClr>
            </a:outerShdw>
          </a:effectLst>
        </p:spPr>
      </p:sp>
      <p:sp>
        <p:nvSpPr>
          <p:cNvPr id="5" name="Text 3"/>
          <p:cNvSpPr txBox="1"/>
          <p:nvPr/>
        </p:nvSpPr>
        <p:spPr>
          <a:xfrm>
            <a:off x="1051560" y="1965960"/>
            <a:ext cx="3931920" cy="457200"/>
          </a:xfrm>
          <a:prstGeom prst="rect">
            <a:avLst/>
          </a:prstGeom>
          <a:noFill/>
          <a:ln/>
        </p:spPr>
        <p:txBody>
          <a:bodyPr wrap="square" lIns="0" tIns="0" rIns="0" bIns="0" rtlCol="0" anchor="ctr"/>
          <a:lstStyle/>
          <a:p>
            <a:pPr indent="0" marL="0">
              <a:buNone/>
            </a:pPr>
            <a:r>
              <a:rPr lang="en-US" sz="1700" b="1" dirty="0">
                <a:solidFill>
                  <a:srgbClr val="1F4E79"/>
                </a:solidFill>
                <a:latin typeface="Consolas" pitchFamily="34" charset="0"/>
                <a:ea typeface="Consolas" pitchFamily="34" charset="-122"/>
                <a:cs typeface="Consolas" pitchFamily="34" charset="-120"/>
              </a:rPr>
              <a:t>users</a:t>
            </a:r>
            <a:endParaRPr lang="en-US" sz="1700" dirty="0"/>
          </a:p>
        </p:txBody>
      </p:sp>
      <p:sp>
        <p:nvSpPr>
          <p:cNvPr id="6" name="Text 4"/>
          <p:cNvSpPr txBox="1"/>
          <p:nvPr/>
        </p:nvSpPr>
        <p:spPr>
          <a:xfrm>
            <a:off x="1051560" y="2514600"/>
            <a:ext cx="3931920" cy="731520"/>
          </a:xfrm>
          <a:prstGeom prst="rect">
            <a:avLst/>
          </a:prstGeom>
          <a:noFill/>
          <a:ln/>
        </p:spPr>
        <p:txBody>
          <a:bodyPr wrap="square" lIns="0" tIns="0" rIns="0" bIns="0" rtlCol="0" anchor="ctr"/>
          <a:lstStyle/>
          <a:p>
            <a:pPr indent="0" marL="0">
              <a:lnSpc>
                <a:spcPct val="130000"/>
              </a:lnSpc>
              <a:buNone/>
            </a:pPr>
            <a:r>
              <a:rPr lang="en-US" sz="1200" dirty="0">
                <a:solidFill>
                  <a:srgbClr val="5B6673"/>
                </a:solidFill>
                <a:latin typeface="Consolas" pitchFamily="34" charset="0"/>
                <a:ea typeface="Consolas" pitchFamily="34" charset="-122"/>
                <a:cs typeface="Consolas" pitchFamily="34" charset="-120"/>
              </a:rPr>
              <a:t>role, quartier, telephone</a:t>
            </a:r>
            <a:endParaRPr lang="en-US" sz="1200" dirty="0"/>
          </a:p>
        </p:txBody>
      </p:sp>
      <p:sp>
        <p:nvSpPr>
          <p:cNvPr id="7" name="Shape 5"/>
          <p:cNvSpPr/>
          <p:nvPr/>
        </p:nvSpPr>
        <p:spPr>
          <a:xfrm>
            <a:off x="6949440" y="1828800"/>
            <a:ext cx="4389120" cy="1554480"/>
          </a:xfrm>
          <a:prstGeom prst="roundRect">
            <a:avLst>
              <a:gd name="adj" fmla="val 5882"/>
            </a:avLst>
          </a:prstGeom>
          <a:solidFill>
            <a:srgbClr val="E9EEF5"/>
          </a:solidFill>
          <a:ln w="12700">
            <a:solidFill>
              <a:srgbClr val="1F4E79"/>
            </a:solidFill>
            <a:prstDash val="solid"/>
          </a:ln>
          <a:effectLst>
            <a:outerShdw sx="100000" sy="100000" kx="0" ky="0" algn="bl" rotWithShape="0" blurRad="101600" dist="38100" dir="5400000">
              <a:srgbClr val="1F2328">
                <a:alpha val="18000"/>
              </a:srgbClr>
            </a:outerShdw>
          </a:effectLst>
        </p:spPr>
      </p:sp>
      <p:sp>
        <p:nvSpPr>
          <p:cNvPr id="8" name="Text 6"/>
          <p:cNvSpPr txBox="1"/>
          <p:nvPr/>
        </p:nvSpPr>
        <p:spPr>
          <a:xfrm>
            <a:off x="7178040" y="1965960"/>
            <a:ext cx="3931920" cy="457200"/>
          </a:xfrm>
          <a:prstGeom prst="rect">
            <a:avLst/>
          </a:prstGeom>
          <a:noFill/>
          <a:ln/>
        </p:spPr>
        <p:txBody>
          <a:bodyPr wrap="square" lIns="0" tIns="0" rIns="0" bIns="0" rtlCol="0" anchor="ctr"/>
          <a:lstStyle/>
          <a:p>
            <a:pPr indent="0" marL="0">
              <a:buNone/>
            </a:pPr>
            <a:r>
              <a:rPr lang="en-US" sz="1700" b="1" dirty="0">
                <a:solidFill>
                  <a:srgbClr val="1F4E79"/>
                </a:solidFill>
                <a:latin typeface="Consolas" pitchFamily="34" charset="0"/>
                <a:ea typeface="Consolas" pitchFamily="34" charset="-122"/>
                <a:cs typeface="Consolas" pitchFamily="34" charset="-120"/>
              </a:rPr>
              <a:t>signalements</a:t>
            </a:r>
            <a:endParaRPr lang="en-US" sz="1700" dirty="0"/>
          </a:p>
        </p:txBody>
      </p:sp>
      <p:sp>
        <p:nvSpPr>
          <p:cNvPr id="9" name="Text 7"/>
          <p:cNvSpPr txBox="1"/>
          <p:nvPr/>
        </p:nvSpPr>
        <p:spPr>
          <a:xfrm>
            <a:off x="7178040" y="2514600"/>
            <a:ext cx="3931920" cy="731520"/>
          </a:xfrm>
          <a:prstGeom prst="rect">
            <a:avLst/>
          </a:prstGeom>
          <a:noFill/>
          <a:ln/>
        </p:spPr>
        <p:txBody>
          <a:bodyPr wrap="square" lIns="0" tIns="0" rIns="0" bIns="0" rtlCol="0" anchor="ctr"/>
          <a:lstStyle/>
          <a:p>
            <a:pPr indent="0" marL="0">
              <a:lnSpc>
                <a:spcPct val="130000"/>
              </a:lnSpc>
              <a:buNone/>
            </a:pPr>
            <a:r>
              <a:rPr lang="en-US" sz="1200" dirty="0">
                <a:solidFill>
                  <a:srgbClr val="5B6673"/>
                </a:solidFill>
                <a:latin typeface="Consolas" pitchFamily="34" charset="0"/>
                <a:ea typeface="Consolas" pitchFamily="34" charset="-122"/>
                <a:cs typeface="Consolas" pitchFamily="34" charset="-120"/>
              </a:rPr>
              <a:t>categorie, statut, quartier</a:t>
            </a:r>
            <a:endParaRPr lang="en-US" sz="1200" dirty="0"/>
          </a:p>
        </p:txBody>
      </p:sp>
      <p:sp>
        <p:nvSpPr>
          <p:cNvPr id="10" name="Shape 8"/>
          <p:cNvSpPr/>
          <p:nvPr/>
        </p:nvSpPr>
        <p:spPr>
          <a:xfrm>
            <a:off x="822960" y="4114800"/>
            <a:ext cx="4389120" cy="1554480"/>
          </a:xfrm>
          <a:prstGeom prst="roundRect">
            <a:avLst>
              <a:gd name="adj" fmla="val 5882"/>
            </a:avLst>
          </a:prstGeom>
          <a:solidFill>
            <a:srgbClr val="E9EEF5"/>
          </a:solidFill>
          <a:ln w="12700">
            <a:solidFill>
              <a:srgbClr val="1F4E79"/>
            </a:solidFill>
            <a:prstDash val="solid"/>
          </a:ln>
          <a:effectLst>
            <a:outerShdw sx="100000" sy="100000" kx="0" ky="0" algn="bl" rotWithShape="0" blurRad="101600" dist="38100" dir="5400000">
              <a:srgbClr val="1F2328">
                <a:alpha val="18000"/>
              </a:srgbClr>
            </a:outerShdw>
          </a:effectLst>
        </p:spPr>
      </p:sp>
      <p:sp>
        <p:nvSpPr>
          <p:cNvPr id="11" name="Text 9"/>
          <p:cNvSpPr txBox="1"/>
          <p:nvPr/>
        </p:nvSpPr>
        <p:spPr>
          <a:xfrm>
            <a:off x="1051560" y="4251960"/>
            <a:ext cx="3931920" cy="457200"/>
          </a:xfrm>
          <a:prstGeom prst="rect">
            <a:avLst/>
          </a:prstGeom>
          <a:noFill/>
          <a:ln/>
        </p:spPr>
        <p:txBody>
          <a:bodyPr wrap="square" lIns="0" tIns="0" rIns="0" bIns="0" rtlCol="0" anchor="ctr"/>
          <a:lstStyle/>
          <a:p>
            <a:pPr indent="0" marL="0">
              <a:buNone/>
            </a:pPr>
            <a:r>
              <a:rPr lang="en-US" sz="1700" b="1" dirty="0">
                <a:solidFill>
                  <a:srgbClr val="1F4E79"/>
                </a:solidFill>
                <a:latin typeface="Consolas" pitchFamily="34" charset="0"/>
                <a:ea typeface="Consolas" pitchFamily="34" charset="-122"/>
                <a:cs typeface="Consolas" pitchFamily="34" charset="-120"/>
              </a:rPr>
              <a:t>notifications</a:t>
            </a:r>
            <a:endParaRPr lang="en-US" sz="1700" dirty="0"/>
          </a:p>
        </p:txBody>
      </p:sp>
      <p:sp>
        <p:nvSpPr>
          <p:cNvPr id="12" name="Text 10"/>
          <p:cNvSpPr txBox="1"/>
          <p:nvPr/>
        </p:nvSpPr>
        <p:spPr>
          <a:xfrm>
            <a:off x="1051560" y="4800600"/>
            <a:ext cx="3931920" cy="731520"/>
          </a:xfrm>
          <a:prstGeom prst="rect">
            <a:avLst/>
          </a:prstGeom>
          <a:noFill/>
          <a:ln/>
        </p:spPr>
        <p:txBody>
          <a:bodyPr wrap="square" lIns="0" tIns="0" rIns="0" bIns="0" rtlCol="0" anchor="ctr"/>
          <a:lstStyle/>
          <a:p>
            <a:pPr indent="0" marL="0">
              <a:lnSpc>
                <a:spcPct val="130000"/>
              </a:lnSpc>
              <a:buNone/>
            </a:pPr>
            <a:r>
              <a:rPr lang="en-US" sz="1200" dirty="0">
                <a:solidFill>
                  <a:srgbClr val="5B6673"/>
                </a:solidFill>
                <a:latin typeface="Consolas" pitchFamily="34" charset="0"/>
                <a:ea typeface="Consolas" pitchFamily="34" charset="-122"/>
                <a:cs typeface="Consolas" pitchFamily="34" charset="-120"/>
              </a:rPr>
              <a:t>message, lu</a:t>
            </a:r>
            <a:endParaRPr lang="en-US" sz="1200" dirty="0"/>
          </a:p>
        </p:txBody>
      </p:sp>
      <p:sp>
        <p:nvSpPr>
          <p:cNvPr id="13" name="Shape 11"/>
          <p:cNvSpPr/>
          <p:nvPr/>
        </p:nvSpPr>
        <p:spPr>
          <a:xfrm>
            <a:off x="6949440" y="4114800"/>
            <a:ext cx="4389120" cy="1554480"/>
          </a:xfrm>
          <a:prstGeom prst="roundRect">
            <a:avLst>
              <a:gd name="adj" fmla="val 5882"/>
            </a:avLst>
          </a:prstGeom>
          <a:solidFill>
            <a:srgbClr val="E9EEF5"/>
          </a:solidFill>
          <a:ln w="12700">
            <a:solidFill>
              <a:srgbClr val="1F4E79"/>
            </a:solidFill>
            <a:prstDash val="solid"/>
          </a:ln>
          <a:effectLst>
            <a:outerShdw sx="100000" sy="100000" kx="0" ky="0" algn="bl" rotWithShape="0" blurRad="101600" dist="38100" dir="5400000">
              <a:srgbClr val="1F2328">
                <a:alpha val="18000"/>
              </a:srgbClr>
            </a:outerShdw>
          </a:effectLst>
        </p:spPr>
      </p:sp>
      <p:sp>
        <p:nvSpPr>
          <p:cNvPr id="14" name="Text 12"/>
          <p:cNvSpPr txBox="1"/>
          <p:nvPr/>
        </p:nvSpPr>
        <p:spPr>
          <a:xfrm>
            <a:off x="7178040" y="4251960"/>
            <a:ext cx="3931920" cy="457200"/>
          </a:xfrm>
          <a:prstGeom prst="rect">
            <a:avLst/>
          </a:prstGeom>
          <a:noFill/>
          <a:ln/>
        </p:spPr>
        <p:txBody>
          <a:bodyPr wrap="square" lIns="0" tIns="0" rIns="0" bIns="0" rtlCol="0" anchor="ctr"/>
          <a:lstStyle/>
          <a:p>
            <a:pPr indent="0" marL="0">
              <a:buNone/>
            </a:pPr>
            <a:r>
              <a:rPr lang="en-US" sz="1700" b="1" dirty="0">
                <a:solidFill>
                  <a:srgbClr val="1F4E79"/>
                </a:solidFill>
                <a:latin typeface="Consolas" pitchFamily="34" charset="0"/>
                <a:ea typeface="Consolas" pitchFamily="34" charset="-122"/>
                <a:cs typeface="Consolas" pitchFamily="34" charset="-120"/>
              </a:rPr>
              <a:t>interventions</a:t>
            </a:r>
            <a:endParaRPr lang="en-US" sz="1700" dirty="0"/>
          </a:p>
        </p:txBody>
      </p:sp>
      <p:sp>
        <p:nvSpPr>
          <p:cNvPr id="15" name="Text 13"/>
          <p:cNvSpPr txBox="1"/>
          <p:nvPr/>
        </p:nvSpPr>
        <p:spPr>
          <a:xfrm>
            <a:off x="7178040" y="4800600"/>
            <a:ext cx="3931920" cy="731520"/>
          </a:xfrm>
          <a:prstGeom prst="rect">
            <a:avLst/>
          </a:prstGeom>
          <a:noFill/>
          <a:ln/>
        </p:spPr>
        <p:txBody>
          <a:bodyPr wrap="square" lIns="0" tIns="0" rIns="0" bIns="0" rtlCol="0" anchor="ctr"/>
          <a:lstStyle/>
          <a:p>
            <a:pPr indent="0" marL="0">
              <a:lnSpc>
                <a:spcPct val="130000"/>
              </a:lnSpc>
              <a:buNone/>
            </a:pPr>
            <a:r>
              <a:rPr lang="en-US" sz="1200" dirty="0">
                <a:solidFill>
                  <a:srgbClr val="5B6673"/>
                </a:solidFill>
                <a:latin typeface="Consolas" pitchFamily="34" charset="0"/>
                <a:ea typeface="Consolas" pitchFamily="34" charset="-122"/>
                <a:cs typeface="Consolas" pitchFamily="34" charset="-120"/>
              </a:rPr>
              <a:t>ancien/nouveau statut</a:t>
            </a:r>
            <a:endParaRPr lang="en-US" sz="1200" dirty="0"/>
          </a:p>
        </p:txBody>
      </p:sp>
      <p:sp>
        <p:nvSpPr>
          <p:cNvPr id="16" name="Shape 14"/>
          <p:cNvSpPr/>
          <p:nvPr/>
        </p:nvSpPr>
        <p:spPr>
          <a:xfrm>
            <a:off x="5212080" y="2606040"/>
            <a:ext cx="1737360" cy="0"/>
          </a:xfrm>
          <a:prstGeom prst="line">
            <a:avLst/>
          </a:prstGeom>
          <a:noFill/>
          <a:ln w="19050">
            <a:solidFill>
              <a:srgbClr val="A6192E"/>
            </a:solidFill>
            <a:prstDash val="dash"/>
          </a:ln>
        </p:spPr>
      </p:sp>
      <p:sp>
        <p:nvSpPr>
          <p:cNvPr id="17" name="Text 15"/>
          <p:cNvSpPr txBox="1"/>
          <p:nvPr/>
        </p:nvSpPr>
        <p:spPr>
          <a:xfrm>
            <a:off x="5257800" y="2331720"/>
            <a:ext cx="1645920" cy="274320"/>
          </a:xfrm>
          <a:prstGeom prst="rect">
            <a:avLst/>
          </a:prstGeom>
          <a:noFill/>
          <a:ln/>
        </p:spPr>
        <p:txBody>
          <a:bodyPr wrap="square" lIns="0" tIns="0" rIns="0" bIns="0" rtlCol="0" anchor="ctr"/>
          <a:lstStyle/>
          <a:p>
            <a:pPr algn="ctr" indent="0" marL="0">
              <a:buNone/>
            </a:pPr>
            <a:r>
              <a:rPr lang="en-US" sz="1000" dirty="0">
                <a:solidFill>
                  <a:srgbClr val="A6192E"/>
                </a:solidFill>
              </a:rPr>
              <a:t>1 - N</a:t>
            </a:r>
            <a:endParaRPr lang="en-US" sz="1000" dirty="0"/>
          </a:p>
        </p:txBody>
      </p:sp>
      <p:sp>
        <p:nvSpPr>
          <p:cNvPr id="18" name="Shape 16"/>
          <p:cNvSpPr/>
          <p:nvPr/>
        </p:nvSpPr>
        <p:spPr>
          <a:xfrm>
            <a:off x="3017520" y="3383280"/>
            <a:ext cx="0" cy="731520"/>
          </a:xfrm>
          <a:prstGeom prst="line">
            <a:avLst/>
          </a:prstGeom>
          <a:noFill/>
          <a:ln w="19050">
            <a:solidFill>
              <a:srgbClr val="A6192E"/>
            </a:solidFill>
            <a:prstDash val="dash"/>
          </a:ln>
        </p:spPr>
      </p:sp>
      <p:sp>
        <p:nvSpPr>
          <p:cNvPr id="19" name="Shape 17"/>
          <p:cNvSpPr/>
          <p:nvPr/>
        </p:nvSpPr>
        <p:spPr>
          <a:xfrm>
            <a:off x="9144000" y="3383280"/>
            <a:ext cx="0" cy="731520"/>
          </a:xfrm>
          <a:prstGeom prst="line">
            <a:avLst/>
          </a:prstGeom>
          <a:noFill/>
          <a:ln w="19050">
            <a:solidFill>
              <a:srgbClr val="A6192E"/>
            </a:solidFill>
            <a:prstDash val="dash"/>
          </a:ln>
        </p:spPr>
      </p:sp>
      <p:sp>
        <p:nvSpPr>
          <p:cNvPr id="20" name="Text 18"/>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673"/>
                </a:solidFill>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153912" y="0"/>
            <a:ext cx="6035040" cy="6858000"/>
          </a:xfrm>
          <a:prstGeom prst="rect">
            <a:avLst/>
          </a:prstGeom>
          <a:solidFill>
            <a:srgbClr val="E9EEF5"/>
          </a:solidFill>
          <a:ln/>
        </p:spPr>
      </p:sp>
      <p:sp>
        <p:nvSpPr>
          <p:cNvPr id="3" name="Text 1"/>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A6192E"/>
                </a:solidFill>
                <a:latin typeface="Calibri" pitchFamily="34" charset="0"/>
                <a:ea typeface="Calibri" pitchFamily="34" charset="-122"/>
                <a:cs typeface="Calibri" pitchFamily="34" charset="-120"/>
              </a:rPr>
              <a:t>DÉMONSTRATION</a:t>
            </a:r>
            <a:endParaRPr lang="en-US" sz="1300" dirty="0"/>
          </a:p>
        </p:txBody>
      </p:sp>
      <p:sp>
        <p:nvSpPr>
          <p:cNvPr id="4" name="Text 2"/>
          <p:cNvSpPr txBox="1"/>
          <p:nvPr/>
        </p:nvSpPr>
        <p:spPr>
          <a:xfrm>
            <a:off x="640080" y="822960"/>
            <a:ext cx="4873752" cy="1005840"/>
          </a:xfrm>
          <a:prstGeom prst="rect">
            <a:avLst/>
          </a:prstGeom>
          <a:noFill/>
          <a:ln/>
        </p:spPr>
        <p:txBody>
          <a:bodyPr wrap="square" lIns="0" tIns="0" rIns="0" bIns="0" rtlCol="0" anchor="ctr"/>
          <a:lstStyle/>
          <a:p>
            <a:pPr indent="0" marL="0">
              <a:lnSpc>
                <a:spcPct val="105000"/>
              </a:lnSpc>
              <a:buNone/>
            </a:pPr>
            <a:r>
              <a:rPr lang="en-US" sz="2600" b="1" dirty="0">
                <a:solidFill>
                  <a:srgbClr val="1F4E79"/>
                </a:solidFill>
                <a:latin typeface="Cambria" pitchFamily="34" charset="0"/>
                <a:ea typeface="Cambria" pitchFamily="34" charset="-122"/>
                <a:cs typeface="Cambria" pitchFamily="34" charset="-120"/>
              </a:rPr>
              <a:t>Page d'accueil</a:t>
            </a:r>
            <a:endParaRPr lang="en-US" sz="2600" dirty="0"/>
          </a:p>
        </p:txBody>
      </p:sp>
      <p:sp>
        <p:nvSpPr>
          <p:cNvPr id="5" name="Text 3"/>
          <p:cNvSpPr txBox="1"/>
          <p:nvPr/>
        </p:nvSpPr>
        <p:spPr>
          <a:xfrm>
            <a:off x="640080" y="1874520"/>
            <a:ext cx="4873752" cy="3291840"/>
          </a:xfrm>
          <a:prstGeom prst="rect">
            <a:avLst/>
          </a:prstGeom>
          <a:noFill/>
          <a:ln/>
        </p:spPr>
        <p:txBody>
          <a:bodyPr wrap="square" lIns="0" tIns="0" rIns="0" bIns="0" rtlCol="0" anchor="ctr"/>
          <a:lstStyle/>
          <a:p>
            <a:pPr indent="0" marL="0">
              <a:lnSpc>
                <a:spcPct val="130000"/>
              </a:lnSpc>
              <a:buNone/>
            </a:pPr>
            <a:r>
              <a:rPr lang="en-US" sz="1400" dirty="0">
                <a:solidFill>
                  <a:srgbClr val="1F2328"/>
                </a:solidFill>
                <a:latin typeface="Calibri" pitchFamily="34" charset="0"/>
                <a:ea typeface="Calibri" pitchFamily="34" charset="-122"/>
                <a:cs typeface="Calibri" pitchFamily="34" charset="-120"/>
              </a:rPr>
              <a:t>L'accueil présente le projet en clair et affiche des statistiques publiques (signalements résolus, en cours, quartiers actifs), pour donner tout de suite une vue de la situation communautaire.</a:t>
            </a:r>
            <a:endParaRPr lang="en-US" sz="1400" dirty="0"/>
          </a:p>
        </p:txBody>
      </p:sp>
      <p:pic>
        <p:nvPicPr>
          <p:cNvPr id="6" name="Image 0" descr="C:/Users/ADMIN/AppData/Local/Temp/claude/C--Users-ADMIN-Documents-WEB-Projet-web/d0b78f95-ca22-401a-86ef-5d14b1eaec79/scratchpad/screenshots/01_accueil.png">    </p:cNvPr>
          <p:cNvPicPr>
            <a:picLocks noChangeAspect="1"/>
          </p:cNvPicPr>
          <p:nvPr/>
        </p:nvPicPr>
        <p:blipFill>
          <a:blip r:embed="rId1"/>
          <a:stretch>
            <a:fillRect/>
          </a:stretch>
        </p:blipFill>
        <p:spPr>
          <a:xfrm>
            <a:off x="6473952" y="1546599"/>
            <a:ext cx="5394960" cy="3764801"/>
          </a:xfrm>
          <a:prstGeom prst="rect">
            <a:avLst/>
          </a:prstGeom>
          <a:effectLst>
            <a:outerShdw sx="100000" sy="100000" kx="0" ky="0" algn="bl" rotWithShape="0" blurRad="101600" dist="38100" dir="5400000">
              <a:srgbClr val="1F2328">
                <a:alpha val="18000"/>
              </a:srgbClr>
            </a:outerShdw>
          </a:effectLst>
        </p:spPr>
      </p:pic>
      <p:sp>
        <p:nvSpPr>
          <p:cNvPr id="7" name="Text 4"/>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673"/>
                </a:solidFill>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35040" cy="6858000"/>
          </a:xfrm>
          <a:prstGeom prst="rect">
            <a:avLst/>
          </a:prstGeom>
          <a:solidFill>
            <a:srgbClr val="E9EEF5"/>
          </a:solidFill>
          <a:ln/>
        </p:spPr>
      </p:sp>
      <p:sp>
        <p:nvSpPr>
          <p:cNvPr id="3" name="Text 1"/>
          <p:cNvSpPr txBox="1"/>
          <p:nvPr/>
        </p:nvSpPr>
        <p:spPr>
          <a:xfrm>
            <a:off x="6675120" y="457200"/>
            <a:ext cx="7315200" cy="320040"/>
          </a:xfrm>
          <a:prstGeom prst="rect">
            <a:avLst/>
          </a:prstGeom>
          <a:noFill/>
          <a:ln/>
        </p:spPr>
        <p:txBody>
          <a:bodyPr wrap="square" lIns="0" tIns="0" rIns="0" bIns="0" rtlCol="0" anchor="ctr"/>
          <a:lstStyle/>
          <a:p>
            <a:pPr indent="0" marL="0">
              <a:buNone/>
            </a:pPr>
            <a:r>
              <a:rPr lang="en-US" sz="1300" b="1" spc="200" kern="0" dirty="0">
                <a:solidFill>
                  <a:srgbClr val="A6192E"/>
                </a:solidFill>
                <a:latin typeface="Calibri" pitchFamily="34" charset="0"/>
                <a:ea typeface="Calibri" pitchFamily="34" charset="-122"/>
                <a:cs typeface="Calibri" pitchFamily="34" charset="-120"/>
              </a:rPr>
              <a:t>DÉMONSTRATION</a:t>
            </a:r>
            <a:endParaRPr lang="en-US" sz="1300" dirty="0"/>
          </a:p>
        </p:txBody>
      </p:sp>
      <p:sp>
        <p:nvSpPr>
          <p:cNvPr id="4" name="Text 2"/>
          <p:cNvSpPr txBox="1"/>
          <p:nvPr/>
        </p:nvSpPr>
        <p:spPr>
          <a:xfrm>
            <a:off x="6675120" y="822960"/>
            <a:ext cx="4873752" cy="1005840"/>
          </a:xfrm>
          <a:prstGeom prst="rect">
            <a:avLst/>
          </a:prstGeom>
          <a:noFill/>
          <a:ln/>
        </p:spPr>
        <p:txBody>
          <a:bodyPr wrap="square" lIns="0" tIns="0" rIns="0" bIns="0" rtlCol="0" anchor="ctr"/>
          <a:lstStyle/>
          <a:p>
            <a:pPr indent="0" marL="0">
              <a:lnSpc>
                <a:spcPct val="105000"/>
              </a:lnSpc>
              <a:buNone/>
            </a:pPr>
            <a:r>
              <a:rPr lang="en-US" sz="2600" b="1" dirty="0">
                <a:solidFill>
                  <a:srgbClr val="1F4E79"/>
                </a:solidFill>
                <a:latin typeface="Cambria" pitchFamily="34" charset="0"/>
                <a:ea typeface="Cambria" pitchFamily="34" charset="-122"/>
                <a:cs typeface="Cambria" pitchFamily="34" charset="-120"/>
              </a:rPr>
              <a:t>Signaler un problème</a:t>
            </a:r>
            <a:endParaRPr lang="en-US" sz="2600" dirty="0"/>
          </a:p>
        </p:txBody>
      </p:sp>
      <p:sp>
        <p:nvSpPr>
          <p:cNvPr id="5" name="Text 3"/>
          <p:cNvSpPr txBox="1"/>
          <p:nvPr/>
        </p:nvSpPr>
        <p:spPr>
          <a:xfrm>
            <a:off x="6675120" y="1874520"/>
            <a:ext cx="4873752" cy="3291840"/>
          </a:xfrm>
          <a:prstGeom prst="rect">
            <a:avLst/>
          </a:prstGeom>
          <a:noFill/>
          <a:ln/>
        </p:spPr>
        <p:txBody>
          <a:bodyPr wrap="square" lIns="0" tIns="0" rIns="0" bIns="0" rtlCol="0" anchor="ctr"/>
          <a:lstStyle/>
          <a:p>
            <a:pPr indent="0" marL="0">
              <a:lnSpc>
                <a:spcPct val="130000"/>
              </a:lnSpc>
              <a:buNone/>
            </a:pPr>
            <a:r>
              <a:rPr lang="en-US" sz="1400" dirty="0">
                <a:solidFill>
                  <a:srgbClr val="1F2328"/>
                </a:solidFill>
                <a:latin typeface="Calibri" pitchFamily="34" charset="0"/>
                <a:ea typeface="Calibri" pitchFamily="34" charset="-122"/>
                <a:cs typeface="Calibri" pitchFamily="34" charset="-120"/>
              </a:rPr>
              <a:t>Un citoyen connecté remplit un formulaire simple : catégorie, titre, description, quartier, et une photo facultative. La validation est faite côté serveur, avec des messages d'erreur clairs en français.</a:t>
            </a:r>
            <a:endParaRPr lang="en-US" sz="1400" dirty="0"/>
          </a:p>
        </p:txBody>
      </p:sp>
      <p:pic>
        <p:nvPicPr>
          <p:cNvPr id="6" name="Image 0" descr="C:/Users/ADMIN/AppData/Local/Temp/claude/C--Users-ADMIN-Documents-WEB-Projet-web/d0b78f95-ca22-401a-86ef-5d14b1eaec79/scratchpad/screenshots/07_nouveau_signalement.png">    </p:cNvPr>
          <p:cNvPicPr>
            <a:picLocks noChangeAspect="1"/>
          </p:cNvPicPr>
          <p:nvPr/>
        </p:nvPicPr>
        <p:blipFill>
          <a:blip r:embed="rId1"/>
          <a:stretch>
            <a:fillRect/>
          </a:stretch>
        </p:blipFill>
        <p:spPr>
          <a:xfrm>
            <a:off x="320040" y="1260608"/>
            <a:ext cx="5394960" cy="4336785"/>
          </a:xfrm>
          <a:prstGeom prst="rect">
            <a:avLst/>
          </a:prstGeom>
          <a:effectLst>
            <a:outerShdw sx="100000" sy="100000" kx="0" ky="0" algn="bl" rotWithShape="0" blurRad="101600" dist="38100" dir="5400000">
              <a:srgbClr val="1F2328">
                <a:alpha val="18000"/>
              </a:srgbClr>
            </a:outerShdw>
          </a:effectLst>
        </p:spPr>
      </p:pic>
      <p:sp>
        <p:nvSpPr>
          <p:cNvPr id="7" name="Text 4"/>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673"/>
                </a:solidFill>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153912" y="0"/>
            <a:ext cx="6035040" cy="6858000"/>
          </a:xfrm>
          <a:prstGeom prst="rect">
            <a:avLst/>
          </a:prstGeom>
          <a:solidFill>
            <a:srgbClr val="E9EEF5"/>
          </a:solidFill>
          <a:ln/>
        </p:spPr>
      </p:sp>
      <p:sp>
        <p:nvSpPr>
          <p:cNvPr id="3" name="Text 1"/>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A6192E"/>
                </a:solidFill>
                <a:latin typeface="Calibri" pitchFamily="34" charset="0"/>
                <a:ea typeface="Calibri" pitchFamily="34" charset="-122"/>
                <a:cs typeface="Calibri" pitchFamily="34" charset="-120"/>
              </a:rPr>
              <a:t>DÉMONSTRATION</a:t>
            </a:r>
            <a:endParaRPr lang="en-US" sz="1300" dirty="0"/>
          </a:p>
        </p:txBody>
      </p:sp>
      <p:sp>
        <p:nvSpPr>
          <p:cNvPr id="4" name="Text 2"/>
          <p:cNvSpPr txBox="1"/>
          <p:nvPr/>
        </p:nvSpPr>
        <p:spPr>
          <a:xfrm>
            <a:off x="640080" y="822960"/>
            <a:ext cx="4873752" cy="1005840"/>
          </a:xfrm>
          <a:prstGeom prst="rect">
            <a:avLst/>
          </a:prstGeom>
          <a:noFill/>
          <a:ln/>
        </p:spPr>
        <p:txBody>
          <a:bodyPr wrap="square" lIns="0" tIns="0" rIns="0" bIns="0" rtlCol="0" anchor="ctr"/>
          <a:lstStyle/>
          <a:p>
            <a:pPr indent="0" marL="0">
              <a:lnSpc>
                <a:spcPct val="105000"/>
              </a:lnSpc>
              <a:buNone/>
            </a:pPr>
            <a:r>
              <a:rPr lang="en-US" sz="2600" b="1" dirty="0">
                <a:solidFill>
                  <a:srgbClr val="1F4E79"/>
                </a:solidFill>
                <a:latin typeface="Cambria" pitchFamily="34" charset="0"/>
                <a:ea typeface="Cambria" pitchFamily="34" charset="-122"/>
                <a:cs typeface="Cambria" pitchFamily="34" charset="-120"/>
              </a:rPr>
              <a:t>Suivi et intervention</a:t>
            </a:r>
            <a:endParaRPr lang="en-US" sz="2600" dirty="0"/>
          </a:p>
        </p:txBody>
      </p:sp>
      <p:sp>
        <p:nvSpPr>
          <p:cNvPr id="5" name="Text 3"/>
          <p:cNvSpPr txBox="1"/>
          <p:nvPr/>
        </p:nvSpPr>
        <p:spPr>
          <a:xfrm>
            <a:off x="640080" y="1874520"/>
            <a:ext cx="4873752" cy="3291840"/>
          </a:xfrm>
          <a:prstGeom prst="rect">
            <a:avLst/>
          </a:prstGeom>
          <a:noFill/>
          <a:ln/>
        </p:spPr>
        <p:txBody>
          <a:bodyPr wrap="square" lIns="0" tIns="0" rIns="0" bIns="0" rtlCol="0" anchor="ctr"/>
          <a:lstStyle/>
          <a:p>
            <a:pPr indent="0" marL="0">
              <a:lnSpc>
                <a:spcPct val="130000"/>
              </a:lnSpc>
              <a:buNone/>
            </a:pPr>
            <a:r>
              <a:rPr lang="en-US" sz="1400" dirty="0">
                <a:solidFill>
                  <a:srgbClr val="1F2328"/>
                </a:solidFill>
                <a:latin typeface="Calibri" pitchFamily="34" charset="0"/>
                <a:ea typeface="Calibri" pitchFamily="34" charset="-122"/>
                <a:cs typeface="Calibri" pitchFamily="34" charset="-120"/>
              </a:rPr>
              <a:t>La page de détail affiche le statut actuel et l'historique complet des interventions. L'agent communal peut changer le statut et ajouter un commentaire, ce qui crée automatiquement une nouvelle ligne dans l'historique.</a:t>
            </a:r>
            <a:endParaRPr lang="en-US" sz="1400" dirty="0"/>
          </a:p>
        </p:txBody>
      </p:sp>
      <p:pic>
        <p:nvPicPr>
          <p:cNvPr id="6" name="Image 0" descr="C:/Users/ADMIN/AppData/Local/Temp/claude/C--Users-ADMIN-Documents-WEB-Projet-web/d0b78f95-ca22-401a-86ef-5d14b1eaec79/scratchpad/screenshots/04_detail_signalement.png">    </p:cNvPr>
          <p:cNvPicPr>
            <a:picLocks noChangeAspect="1"/>
          </p:cNvPicPr>
          <p:nvPr/>
        </p:nvPicPr>
        <p:blipFill>
          <a:blip r:embed="rId1"/>
          <a:stretch>
            <a:fillRect/>
          </a:stretch>
        </p:blipFill>
        <p:spPr>
          <a:xfrm>
            <a:off x="6473952" y="1107589"/>
            <a:ext cx="5394960" cy="4642823"/>
          </a:xfrm>
          <a:prstGeom prst="rect">
            <a:avLst/>
          </a:prstGeom>
          <a:effectLst>
            <a:outerShdw sx="100000" sy="100000" kx="0" ky="0" algn="bl" rotWithShape="0" blurRad="101600" dist="38100" dir="5400000">
              <a:srgbClr val="1F2328">
                <a:alpha val="18000"/>
              </a:srgbClr>
            </a:outerShdw>
          </a:effectLst>
        </p:spPr>
      </p:pic>
      <p:sp>
        <p:nvSpPr>
          <p:cNvPr id="7" name="Text 4"/>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673"/>
                </a:solidFill>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35040" cy="6858000"/>
          </a:xfrm>
          <a:prstGeom prst="rect">
            <a:avLst/>
          </a:prstGeom>
          <a:solidFill>
            <a:srgbClr val="E9EEF5"/>
          </a:solidFill>
          <a:ln/>
        </p:spPr>
      </p:sp>
      <p:sp>
        <p:nvSpPr>
          <p:cNvPr id="3" name="Text 1"/>
          <p:cNvSpPr txBox="1"/>
          <p:nvPr/>
        </p:nvSpPr>
        <p:spPr>
          <a:xfrm>
            <a:off x="6675120" y="457200"/>
            <a:ext cx="7315200" cy="320040"/>
          </a:xfrm>
          <a:prstGeom prst="rect">
            <a:avLst/>
          </a:prstGeom>
          <a:noFill/>
          <a:ln/>
        </p:spPr>
        <p:txBody>
          <a:bodyPr wrap="square" lIns="0" tIns="0" rIns="0" bIns="0" rtlCol="0" anchor="ctr"/>
          <a:lstStyle/>
          <a:p>
            <a:pPr indent="0" marL="0">
              <a:buNone/>
            </a:pPr>
            <a:r>
              <a:rPr lang="en-US" sz="1300" b="1" spc="200" kern="0" dirty="0">
                <a:solidFill>
                  <a:srgbClr val="A6192E"/>
                </a:solidFill>
                <a:latin typeface="Calibri" pitchFamily="34" charset="0"/>
                <a:ea typeface="Calibri" pitchFamily="34" charset="-122"/>
                <a:cs typeface="Calibri" pitchFamily="34" charset="-120"/>
              </a:rPr>
              <a:t>DÉMONSTRATION</a:t>
            </a:r>
            <a:endParaRPr lang="en-US" sz="1300" dirty="0"/>
          </a:p>
        </p:txBody>
      </p:sp>
      <p:sp>
        <p:nvSpPr>
          <p:cNvPr id="4" name="Text 2"/>
          <p:cNvSpPr txBox="1"/>
          <p:nvPr/>
        </p:nvSpPr>
        <p:spPr>
          <a:xfrm>
            <a:off x="6675120" y="822960"/>
            <a:ext cx="4873752" cy="1005840"/>
          </a:xfrm>
          <a:prstGeom prst="rect">
            <a:avLst/>
          </a:prstGeom>
          <a:noFill/>
          <a:ln/>
        </p:spPr>
        <p:txBody>
          <a:bodyPr wrap="square" lIns="0" tIns="0" rIns="0" bIns="0" rtlCol="0" anchor="ctr"/>
          <a:lstStyle/>
          <a:p>
            <a:pPr indent="0" marL="0">
              <a:lnSpc>
                <a:spcPct val="105000"/>
              </a:lnSpc>
              <a:buNone/>
            </a:pPr>
            <a:r>
              <a:rPr lang="en-US" sz="2600" b="1" dirty="0">
                <a:solidFill>
                  <a:srgbClr val="1F4E79"/>
                </a:solidFill>
                <a:latin typeface="Cambria" pitchFamily="34" charset="0"/>
                <a:ea typeface="Cambria" pitchFamily="34" charset="-122"/>
                <a:cs typeface="Cambria" pitchFamily="34" charset="-120"/>
              </a:rPr>
              <a:t>Notification reçue</a:t>
            </a:r>
            <a:endParaRPr lang="en-US" sz="2600" dirty="0"/>
          </a:p>
        </p:txBody>
      </p:sp>
      <p:sp>
        <p:nvSpPr>
          <p:cNvPr id="5" name="Text 3"/>
          <p:cNvSpPr txBox="1"/>
          <p:nvPr/>
        </p:nvSpPr>
        <p:spPr>
          <a:xfrm>
            <a:off x="6675120" y="1874520"/>
            <a:ext cx="4873752" cy="3291840"/>
          </a:xfrm>
          <a:prstGeom prst="rect">
            <a:avLst/>
          </a:prstGeom>
          <a:noFill/>
          <a:ln/>
        </p:spPr>
        <p:txBody>
          <a:bodyPr wrap="square" lIns="0" tIns="0" rIns="0" bIns="0" rtlCol="0" anchor="ctr"/>
          <a:lstStyle/>
          <a:p>
            <a:pPr indent="0" marL="0">
              <a:lnSpc>
                <a:spcPct val="130000"/>
              </a:lnSpc>
              <a:buNone/>
            </a:pPr>
            <a:r>
              <a:rPr lang="en-US" sz="1400" dirty="0">
                <a:solidFill>
                  <a:srgbClr val="1F2328"/>
                </a:solidFill>
                <a:latin typeface="Calibri" pitchFamily="34" charset="0"/>
                <a:ea typeface="Calibri" pitchFamily="34" charset="-122"/>
                <a:cs typeface="Calibri" pitchFamily="34" charset="-120"/>
              </a:rPr>
              <a:t>Dès qu'un agent change le statut d'un signalement, une notification est créée automatiquement pour le citoyen concerné. Il la retrouve dans son espace Notifications et peut la marquer comme lue.</a:t>
            </a:r>
            <a:endParaRPr lang="en-US" sz="1400" dirty="0"/>
          </a:p>
        </p:txBody>
      </p:sp>
      <p:pic>
        <p:nvPicPr>
          <p:cNvPr id="6" name="Image 0" descr="C:/Users/ADMIN/AppData/Local/Temp/claude/C--Users-ADMIN-Documents-WEB-Projet-web/d0b78f95-ca22-401a-86ef-5d14b1eaec79/scratchpad/screenshots/08_notifications.png">    </p:cNvPr>
          <p:cNvPicPr>
            <a:picLocks noChangeAspect="1"/>
          </p:cNvPicPr>
          <p:nvPr/>
        </p:nvPicPr>
        <p:blipFill>
          <a:blip r:embed="rId1"/>
          <a:stretch>
            <a:fillRect/>
          </a:stretch>
        </p:blipFill>
        <p:spPr>
          <a:xfrm>
            <a:off x="320040" y="2160195"/>
            <a:ext cx="5394960" cy="2537611"/>
          </a:xfrm>
          <a:prstGeom prst="rect">
            <a:avLst/>
          </a:prstGeom>
          <a:effectLst>
            <a:outerShdw sx="100000" sy="100000" kx="0" ky="0" algn="bl" rotWithShape="0" blurRad="101600" dist="38100" dir="5400000">
              <a:srgbClr val="1F2328">
                <a:alpha val="18000"/>
              </a:srgbClr>
            </a:outerShdw>
          </a:effectLst>
        </p:spPr>
      </p:pic>
      <p:sp>
        <p:nvSpPr>
          <p:cNvPr id="7" name="Text 4"/>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673"/>
                </a:solidFill>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153912" y="0"/>
            <a:ext cx="6035040" cy="6858000"/>
          </a:xfrm>
          <a:prstGeom prst="rect">
            <a:avLst/>
          </a:prstGeom>
          <a:solidFill>
            <a:srgbClr val="E9EEF5"/>
          </a:solidFill>
          <a:ln/>
        </p:spPr>
      </p:sp>
      <p:sp>
        <p:nvSpPr>
          <p:cNvPr id="3" name="Text 1"/>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A6192E"/>
                </a:solidFill>
                <a:latin typeface="Calibri" pitchFamily="34" charset="0"/>
                <a:ea typeface="Calibri" pitchFamily="34" charset="-122"/>
                <a:cs typeface="Calibri" pitchFamily="34" charset="-120"/>
              </a:rPr>
              <a:t>DÉMONSTRATION</a:t>
            </a:r>
            <a:endParaRPr lang="en-US" sz="1300" dirty="0"/>
          </a:p>
        </p:txBody>
      </p:sp>
      <p:sp>
        <p:nvSpPr>
          <p:cNvPr id="4" name="Text 2"/>
          <p:cNvSpPr txBox="1"/>
          <p:nvPr/>
        </p:nvSpPr>
        <p:spPr>
          <a:xfrm>
            <a:off x="640080" y="822960"/>
            <a:ext cx="4873752" cy="1005840"/>
          </a:xfrm>
          <a:prstGeom prst="rect">
            <a:avLst/>
          </a:prstGeom>
          <a:noFill/>
          <a:ln/>
        </p:spPr>
        <p:txBody>
          <a:bodyPr wrap="square" lIns="0" tIns="0" rIns="0" bIns="0" rtlCol="0" anchor="ctr"/>
          <a:lstStyle/>
          <a:p>
            <a:pPr indent="0" marL="0">
              <a:lnSpc>
                <a:spcPct val="105000"/>
              </a:lnSpc>
              <a:buNone/>
            </a:pPr>
            <a:r>
              <a:rPr lang="en-US" sz="2600" b="1" dirty="0">
                <a:solidFill>
                  <a:srgbClr val="1F4E79"/>
                </a:solidFill>
                <a:latin typeface="Cambria" pitchFamily="34" charset="0"/>
                <a:ea typeface="Cambria" pitchFamily="34" charset="-122"/>
                <a:cs typeface="Cambria" pitchFamily="34" charset="-120"/>
              </a:rPr>
              <a:t>Tableau de bord de l'agent</a:t>
            </a:r>
            <a:endParaRPr lang="en-US" sz="2600" dirty="0"/>
          </a:p>
        </p:txBody>
      </p:sp>
      <p:sp>
        <p:nvSpPr>
          <p:cNvPr id="5" name="Text 3"/>
          <p:cNvSpPr txBox="1"/>
          <p:nvPr/>
        </p:nvSpPr>
        <p:spPr>
          <a:xfrm>
            <a:off x="640080" y="1874520"/>
            <a:ext cx="4873752" cy="3291840"/>
          </a:xfrm>
          <a:prstGeom prst="rect">
            <a:avLst/>
          </a:prstGeom>
          <a:noFill/>
          <a:ln/>
        </p:spPr>
        <p:txBody>
          <a:bodyPr wrap="square" lIns="0" tIns="0" rIns="0" bIns="0" rtlCol="0" anchor="ctr"/>
          <a:lstStyle/>
          <a:p>
            <a:pPr indent="0" marL="0">
              <a:lnSpc>
                <a:spcPct val="130000"/>
              </a:lnSpc>
              <a:buNone/>
            </a:pPr>
            <a:r>
              <a:rPr lang="en-US" sz="1400" dirty="0">
                <a:solidFill>
                  <a:srgbClr val="1F2328"/>
                </a:solidFill>
                <a:latin typeface="Calibri" pitchFamily="34" charset="0"/>
                <a:ea typeface="Calibri" pitchFamily="34" charset="-122"/>
                <a:cs typeface="Calibri" pitchFamily="34" charset="-120"/>
              </a:rPr>
              <a:t>L'agent dispose d'une vue d'ensemble : nombre de signalements par statut, répartition par catégorie et par quartier. De quoi prioriser les interventions sans avoir à parcourir chaque signalement un par un.</a:t>
            </a:r>
            <a:endParaRPr lang="en-US" sz="1400" dirty="0"/>
          </a:p>
        </p:txBody>
      </p:sp>
      <p:pic>
        <p:nvPicPr>
          <p:cNvPr id="6" name="Image 0" descr="C:/Users/ADMIN/AppData/Local/Temp/claude/C--Users-ADMIN-Documents-WEB-Projet-web/d0b78f95-ca22-401a-86ef-5d14b1eaec79/scratchpad/screenshots/05_tableau_de_bord.png">    </p:cNvPr>
          <p:cNvPicPr>
            <a:picLocks noChangeAspect="1"/>
          </p:cNvPicPr>
          <p:nvPr/>
        </p:nvPicPr>
        <p:blipFill>
          <a:blip r:embed="rId1"/>
          <a:stretch>
            <a:fillRect/>
          </a:stretch>
        </p:blipFill>
        <p:spPr>
          <a:xfrm>
            <a:off x="6473952" y="1978742"/>
            <a:ext cx="5394960" cy="2900516"/>
          </a:xfrm>
          <a:prstGeom prst="rect">
            <a:avLst/>
          </a:prstGeom>
          <a:effectLst>
            <a:outerShdw sx="100000" sy="100000" kx="0" ky="0" algn="bl" rotWithShape="0" blurRad="101600" dist="38100" dir="5400000">
              <a:srgbClr val="1F2328">
                <a:alpha val="18000"/>
              </a:srgbClr>
            </a:outerShdw>
          </a:effectLst>
        </p:spPr>
      </p:pic>
      <p:sp>
        <p:nvSpPr>
          <p:cNvPr id="7" name="Text 4"/>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673"/>
                </a:solidFill>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A6192E"/>
                </a:solidFill>
                <a:latin typeface="Calibri" pitchFamily="34" charset="0"/>
                <a:ea typeface="Calibri" pitchFamily="34" charset="-122"/>
                <a:cs typeface="Calibri" pitchFamily="34" charset="-120"/>
              </a:rPr>
              <a:t>QUALITÉ</a:t>
            </a:r>
            <a:endParaRPr lang="en-US" sz="1300" dirty="0"/>
          </a:p>
        </p:txBody>
      </p:sp>
      <p:sp>
        <p:nvSpPr>
          <p:cNvPr id="3" name="Text 1"/>
          <p:cNvSpPr txBox="1"/>
          <p:nvPr/>
        </p:nvSpPr>
        <p:spPr>
          <a:xfrm>
            <a:off x="640080" y="777240"/>
            <a:ext cx="10908792" cy="731520"/>
          </a:xfrm>
          <a:prstGeom prst="rect">
            <a:avLst/>
          </a:prstGeom>
          <a:noFill/>
          <a:ln/>
        </p:spPr>
        <p:txBody>
          <a:bodyPr wrap="square" lIns="0" tIns="0" rIns="0" bIns="0" rtlCol="0" anchor="ctr"/>
          <a:lstStyle/>
          <a:p>
            <a:pPr indent="0" marL="0">
              <a:buNone/>
            </a:pPr>
            <a:r>
              <a:rPr lang="en-US" sz="3200" b="1" dirty="0">
                <a:solidFill>
                  <a:srgbClr val="1F4E79"/>
                </a:solidFill>
                <a:latin typeface="Cambria" pitchFamily="34" charset="0"/>
                <a:ea typeface="Cambria" pitchFamily="34" charset="-122"/>
                <a:cs typeface="Cambria" pitchFamily="34" charset="-120"/>
              </a:rPr>
              <a:t>Sécurité, tests et bonnes pratiques</a:t>
            </a:r>
            <a:endParaRPr lang="en-US" sz="3200" dirty="0"/>
          </a:p>
        </p:txBody>
      </p:sp>
      <p:sp>
        <p:nvSpPr>
          <p:cNvPr id="4" name="Shape 2"/>
          <p:cNvSpPr/>
          <p:nvPr/>
        </p:nvSpPr>
        <p:spPr>
          <a:xfrm>
            <a:off x="822960" y="1828800"/>
            <a:ext cx="3108960" cy="1554480"/>
          </a:xfrm>
          <a:prstGeom prst="roundRect">
            <a:avLst>
              <a:gd name="adj" fmla="val 5882"/>
            </a:avLst>
          </a:prstGeom>
          <a:solidFill>
            <a:srgbClr val="E9EEF5"/>
          </a:solidFill>
          <a:ln/>
          <a:effectLst>
            <a:outerShdw sx="100000" sy="100000" kx="0" ky="0" algn="bl" rotWithShape="0" blurRad="101600" dist="38100" dir="5400000">
              <a:srgbClr val="1F2328">
                <a:alpha val="18000"/>
              </a:srgbClr>
            </a:outerShdw>
          </a:effectLst>
        </p:spPr>
      </p:sp>
      <p:sp>
        <p:nvSpPr>
          <p:cNvPr id="5" name="Text 3"/>
          <p:cNvSpPr txBox="1"/>
          <p:nvPr/>
        </p:nvSpPr>
        <p:spPr>
          <a:xfrm>
            <a:off x="1051560" y="1965960"/>
            <a:ext cx="2651760" cy="822960"/>
          </a:xfrm>
          <a:prstGeom prst="rect">
            <a:avLst/>
          </a:prstGeom>
          <a:noFill/>
          <a:ln/>
        </p:spPr>
        <p:txBody>
          <a:bodyPr wrap="square" lIns="0" tIns="0" rIns="0" bIns="0" rtlCol="0" anchor="ctr"/>
          <a:lstStyle/>
          <a:p>
            <a:pPr indent="0" marL="0">
              <a:buNone/>
            </a:pPr>
            <a:r>
              <a:rPr lang="en-US" sz="4000" b="1" dirty="0">
                <a:solidFill>
                  <a:srgbClr val="A6192E"/>
                </a:solidFill>
                <a:latin typeface="Cambria" pitchFamily="34" charset="0"/>
                <a:ea typeface="Cambria" pitchFamily="34" charset="-122"/>
                <a:cs typeface="Cambria" pitchFamily="34" charset="-120"/>
              </a:rPr>
              <a:t>20</a:t>
            </a:r>
            <a:endParaRPr lang="en-US" sz="4000" dirty="0"/>
          </a:p>
        </p:txBody>
      </p:sp>
      <p:sp>
        <p:nvSpPr>
          <p:cNvPr id="6" name="Text 4"/>
          <p:cNvSpPr txBox="1"/>
          <p:nvPr/>
        </p:nvSpPr>
        <p:spPr>
          <a:xfrm>
            <a:off x="1051560" y="2743200"/>
            <a:ext cx="2651760" cy="548640"/>
          </a:xfrm>
          <a:prstGeom prst="rect">
            <a:avLst/>
          </a:prstGeom>
          <a:noFill/>
          <a:ln/>
        </p:spPr>
        <p:txBody>
          <a:bodyPr wrap="square" lIns="0" tIns="0" rIns="0" bIns="0" rtlCol="0" anchor="ctr"/>
          <a:lstStyle/>
          <a:p>
            <a:pPr indent="0" marL="0">
              <a:lnSpc>
                <a:spcPct val="115000"/>
              </a:lnSpc>
              <a:buNone/>
            </a:pPr>
            <a:r>
              <a:rPr lang="en-US" sz="1150" dirty="0">
                <a:solidFill>
                  <a:srgbClr val="5B6673"/>
                </a:solidFill>
                <a:latin typeface="Calibri" pitchFamily="34" charset="0"/>
                <a:ea typeface="Calibri" pitchFamily="34" charset="-122"/>
                <a:cs typeface="Calibri" pitchFamily="34" charset="-120"/>
              </a:rPr>
              <a:t>tests PHPUnit</a:t>
            </a:r>
            <a:endParaRPr lang="en-US" sz="1150" dirty="0"/>
          </a:p>
          <a:p>
            <a:pPr indent="0" marL="0">
              <a:lnSpc>
                <a:spcPct val="115000"/>
              </a:lnSpc>
              <a:buNone/>
            </a:pPr>
            <a:r>
              <a:rPr lang="en-US" sz="1150" dirty="0">
                <a:solidFill>
                  <a:srgbClr val="5B6673"/>
                </a:solidFill>
                <a:latin typeface="Calibri" pitchFamily="34" charset="0"/>
                <a:ea typeface="Calibri" pitchFamily="34" charset="-122"/>
                <a:cs typeface="Calibri" pitchFamily="34" charset="-120"/>
              </a:rPr>
              <a:t>tous passants</a:t>
            </a:r>
            <a:endParaRPr lang="en-US" sz="1150" dirty="0"/>
          </a:p>
        </p:txBody>
      </p:sp>
      <p:sp>
        <p:nvSpPr>
          <p:cNvPr id="7" name="Shape 5"/>
          <p:cNvSpPr/>
          <p:nvPr/>
        </p:nvSpPr>
        <p:spPr>
          <a:xfrm>
            <a:off x="4206240" y="1828800"/>
            <a:ext cx="3108960" cy="1554480"/>
          </a:xfrm>
          <a:prstGeom prst="roundRect">
            <a:avLst>
              <a:gd name="adj" fmla="val 5882"/>
            </a:avLst>
          </a:prstGeom>
          <a:solidFill>
            <a:srgbClr val="1F4E79"/>
          </a:solidFill>
          <a:ln/>
          <a:effectLst>
            <a:outerShdw sx="100000" sy="100000" kx="0" ky="0" algn="bl" rotWithShape="0" blurRad="101600" dist="38100" dir="5400000">
              <a:srgbClr val="1F2328">
                <a:alpha val="18000"/>
              </a:srgbClr>
            </a:outerShdw>
          </a:effectLst>
        </p:spPr>
      </p:sp>
      <p:sp>
        <p:nvSpPr>
          <p:cNvPr id="8" name="Text 6"/>
          <p:cNvSpPr txBox="1"/>
          <p:nvPr/>
        </p:nvSpPr>
        <p:spPr>
          <a:xfrm>
            <a:off x="4434840" y="1965960"/>
            <a:ext cx="265176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Text 7"/>
          <p:cNvSpPr txBox="1"/>
          <p:nvPr/>
        </p:nvSpPr>
        <p:spPr>
          <a:xfrm>
            <a:off x="4434840" y="2743200"/>
            <a:ext cx="2651760" cy="548640"/>
          </a:xfrm>
          <a:prstGeom prst="rect">
            <a:avLst/>
          </a:prstGeom>
          <a:noFill/>
          <a:ln/>
        </p:spPr>
        <p:txBody>
          <a:bodyPr wrap="square" lIns="0" tIns="0" rIns="0" bIns="0" rtlCol="0" anchor="ctr"/>
          <a:lstStyle/>
          <a:p>
            <a:pPr indent="0" marL="0">
              <a:lnSpc>
                <a:spcPct val="115000"/>
              </a:lnSpc>
              <a:buNone/>
            </a:pPr>
            <a:r>
              <a:rPr lang="en-US" sz="1150" dirty="0">
                <a:solidFill>
                  <a:srgbClr val="CADCFC"/>
                </a:solidFill>
                <a:latin typeface="Calibri" pitchFamily="34" charset="0"/>
                <a:ea typeface="Calibri" pitchFamily="34" charset="-122"/>
                <a:cs typeface="Calibri" pitchFamily="34" charset="-120"/>
              </a:rPr>
              <a:t>tables et</a:t>
            </a:r>
            <a:endParaRPr lang="en-US" sz="1150" dirty="0"/>
          </a:p>
          <a:p>
            <a:pPr indent="0" marL="0">
              <a:lnSpc>
                <a:spcPct val="115000"/>
              </a:lnSpc>
              <a:buNone/>
            </a:pPr>
            <a:r>
              <a:rPr lang="en-US" sz="1150" dirty="0">
                <a:solidFill>
                  <a:srgbClr val="CADCFC"/>
                </a:solidFill>
                <a:latin typeface="Calibri" pitchFamily="34" charset="0"/>
                <a:ea typeface="Calibri" pitchFamily="34" charset="-122"/>
                <a:cs typeface="Calibri" pitchFamily="34" charset="-120"/>
              </a:rPr>
              <a:t>14 endpoints API</a:t>
            </a:r>
            <a:endParaRPr lang="en-US" sz="1150" dirty="0"/>
          </a:p>
        </p:txBody>
      </p:sp>
      <p:sp>
        <p:nvSpPr>
          <p:cNvPr id="10" name="Shape 8"/>
          <p:cNvSpPr/>
          <p:nvPr/>
        </p:nvSpPr>
        <p:spPr>
          <a:xfrm>
            <a:off x="7589520" y="1828800"/>
            <a:ext cx="3108960" cy="1554480"/>
          </a:xfrm>
          <a:prstGeom prst="roundRect">
            <a:avLst>
              <a:gd name="adj" fmla="val 5882"/>
            </a:avLst>
          </a:prstGeom>
          <a:solidFill>
            <a:srgbClr val="E9EEF5"/>
          </a:solidFill>
          <a:ln/>
          <a:effectLst>
            <a:outerShdw sx="100000" sy="100000" kx="0" ky="0" algn="bl" rotWithShape="0" blurRad="101600" dist="38100" dir="5400000">
              <a:srgbClr val="1F2328">
                <a:alpha val="18000"/>
              </a:srgbClr>
            </a:outerShdw>
          </a:effectLst>
        </p:spPr>
      </p:sp>
      <p:sp>
        <p:nvSpPr>
          <p:cNvPr id="11" name="Text 9"/>
          <p:cNvSpPr txBox="1"/>
          <p:nvPr/>
        </p:nvSpPr>
        <p:spPr>
          <a:xfrm>
            <a:off x="7818120" y="1965960"/>
            <a:ext cx="2651760" cy="822960"/>
          </a:xfrm>
          <a:prstGeom prst="rect">
            <a:avLst/>
          </a:prstGeom>
          <a:noFill/>
          <a:ln/>
        </p:spPr>
        <p:txBody>
          <a:bodyPr wrap="square" lIns="0" tIns="0" rIns="0" bIns="0" rtlCol="0" anchor="ctr"/>
          <a:lstStyle/>
          <a:p>
            <a:pPr indent="0" marL="0">
              <a:buNone/>
            </a:pPr>
            <a:r>
              <a:rPr lang="en-US" sz="4000" b="1" dirty="0">
                <a:solidFill>
                  <a:srgbClr val="A6192E"/>
                </a:solidFill>
                <a:latin typeface="Cambria" pitchFamily="34" charset="0"/>
                <a:ea typeface="Cambria" pitchFamily="34" charset="-122"/>
                <a:cs typeface="Cambria" pitchFamily="34" charset="-120"/>
              </a:rPr>
              <a:t>2</a:t>
            </a:r>
            <a:endParaRPr lang="en-US" sz="4000" dirty="0"/>
          </a:p>
        </p:txBody>
      </p:sp>
      <p:sp>
        <p:nvSpPr>
          <p:cNvPr id="12" name="Text 10"/>
          <p:cNvSpPr txBox="1"/>
          <p:nvPr/>
        </p:nvSpPr>
        <p:spPr>
          <a:xfrm>
            <a:off x="7818120" y="2743200"/>
            <a:ext cx="2651760" cy="548640"/>
          </a:xfrm>
          <a:prstGeom prst="rect">
            <a:avLst/>
          </a:prstGeom>
          <a:noFill/>
          <a:ln/>
        </p:spPr>
        <p:txBody>
          <a:bodyPr wrap="square" lIns="0" tIns="0" rIns="0" bIns="0" rtlCol="0" anchor="ctr"/>
          <a:lstStyle/>
          <a:p>
            <a:pPr indent="0" marL="0">
              <a:lnSpc>
                <a:spcPct val="115000"/>
              </a:lnSpc>
              <a:buNone/>
            </a:pPr>
            <a:r>
              <a:rPr lang="en-US" sz="1150" dirty="0">
                <a:solidFill>
                  <a:srgbClr val="5B6673"/>
                </a:solidFill>
                <a:latin typeface="Calibri" pitchFamily="34" charset="0"/>
                <a:ea typeface="Calibri" pitchFamily="34" charset="-122"/>
                <a:cs typeface="Calibri" pitchFamily="34" charset="-120"/>
              </a:rPr>
              <a:t>rôles avec</a:t>
            </a:r>
            <a:endParaRPr lang="en-US" sz="1150" dirty="0"/>
          </a:p>
          <a:p>
            <a:pPr indent="0" marL="0">
              <a:lnSpc>
                <a:spcPct val="115000"/>
              </a:lnSpc>
              <a:buNone/>
            </a:pPr>
            <a:r>
              <a:rPr lang="en-US" sz="1150" dirty="0">
                <a:solidFill>
                  <a:srgbClr val="5B6673"/>
                </a:solidFill>
                <a:latin typeface="Calibri" pitchFamily="34" charset="0"/>
                <a:ea typeface="Calibri" pitchFamily="34" charset="-122"/>
                <a:cs typeface="Calibri" pitchFamily="34" charset="-120"/>
              </a:rPr>
              <a:t>autorisation dédiée</a:t>
            </a:r>
            <a:endParaRPr lang="en-US" sz="1150" dirty="0"/>
          </a:p>
        </p:txBody>
      </p:sp>
      <p:sp>
        <p:nvSpPr>
          <p:cNvPr id="13" name="Text 11"/>
          <p:cNvSpPr txBox="1"/>
          <p:nvPr/>
        </p:nvSpPr>
        <p:spPr>
          <a:xfrm>
            <a:off x="868680" y="3794760"/>
            <a:ext cx="10424160" cy="2377440"/>
          </a:xfrm>
          <a:prstGeom prst="rect">
            <a:avLst/>
          </a:prstGeom>
          <a:noFill/>
          <a:ln/>
        </p:spPr>
        <p:txBody>
          <a:bodyPr wrap="square" lIns="0" tIns="0" rIns="0" bIns="0" rtlCol="0" anchor="ctr"/>
          <a:lstStyle/>
          <a:p>
            <a:pPr marL="342900" indent="-342900">
              <a:lnSpc>
                <a:spcPct val="120000"/>
              </a:lnSpc>
              <a:spcAft>
                <a:spcPts val="1400"/>
              </a:spcAft>
              <a:buSzPct val="100000"/>
              <a:buChar char="●"/>
            </a:pPr>
            <a:r>
              <a:rPr lang="en-US" sz="1450" dirty="0">
                <a:solidFill>
                  <a:srgbClr val="1F2328"/>
                </a:solidFill>
                <a:latin typeface="Calibri" pitchFamily="34" charset="0"/>
                <a:ea typeface="Calibri" pitchFamily="34" charset="-122"/>
                <a:cs typeface="Calibri" pitchFamily="34" charset="-120"/>
              </a:rPr>
              <a:t>Mots de passe hachés, tokens Sanctum, validation serveur systématique</a:t>
            </a:r>
            <a:endParaRPr lang="en-US" sz="1450" dirty="0"/>
          </a:p>
          <a:p>
            <a:pPr marL="342900" indent="-342900">
              <a:lnSpc>
                <a:spcPct val="120000"/>
              </a:lnSpc>
              <a:spcAft>
                <a:spcPts val="1400"/>
              </a:spcAft>
              <a:buSzPct val="100000"/>
              <a:buChar char="●"/>
            </a:pPr>
            <a:r>
              <a:rPr lang="en-US" sz="1450" dirty="0">
                <a:solidFill>
                  <a:srgbClr val="1F2328"/>
                </a:solidFill>
                <a:latin typeface="Calibri" pitchFamily="34" charset="0"/>
                <a:ea typeface="Calibri" pitchFamily="34" charset="-122"/>
                <a:cs typeface="Calibri" pitchFamily="34" charset="-120"/>
              </a:rPr>
              <a:t>Policies par rôle : un citoyen ne voit et ne modifie que ses propres signalements</a:t>
            </a:r>
            <a:endParaRPr lang="en-US" sz="1450" dirty="0"/>
          </a:p>
          <a:p>
            <a:pPr marL="342900" indent="-342900">
              <a:lnSpc>
                <a:spcPct val="120000"/>
              </a:lnSpc>
              <a:spcAft>
                <a:spcPts val="1400"/>
              </a:spcAft>
              <a:buSzPct val="100000"/>
              <a:buChar char="●"/>
            </a:pPr>
            <a:r>
              <a:rPr lang="en-US" sz="1450" dirty="0">
                <a:solidFill>
                  <a:srgbClr val="1F2328"/>
                </a:solidFill>
                <a:latin typeface="Calibri" pitchFamily="34" charset="0"/>
                <a:ea typeface="Calibri" pitchFamily="34" charset="-122"/>
                <a:cs typeface="Calibri" pitchFamily="34" charset="-120"/>
              </a:rPr>
              <a:t>Pagination, chargement anticipé des relations, images compressées</a:t>
            </a:r>
            <a:endParaRPr lang="en-US" sz="1450" dirty="0"/>
          </a:p>
          <a:p>
            <a:pPr marL="342900" indent="-342900">
              <a:lnSpc>
                <a:spcPct val="120000"/>
              </a:lnSpc>
              <a:spcAft>
                <a:spcPts val="1400"/>
              </a:spcAft>
              <a:buSzPct val="100000"/>
              <a:buChar char="●"/>
            </a:pPr>
            <a:r>
              <a:rPr lang="en-US" sz="1450" dirty="0">
                <a:solidFill>
                  <a:srgbClr val="1F2328"/>
                </a:solidFill>
                <a:latin typeface="Calibri" pitchFamily="34" charset="0"/>
                <a:ea typeface="Calibri" pitchFamily="34" charset="-122"/>
                <a:cs typeface="Calibri" pitchFamily="34" charset="-120"/>
              </a:rPr>
              <a:t>Interface sobre pensée pour une connectivité parfois limitée en Haïti</a:t>
            </a:r>
            <a:endParaRPr lang="en-US" sz="1450" dirty="0"/>
          </a:p>
        </p:txBody>
      </p:sp>
      <p:sp>
        <p:nvSpPr>
          <p:cNvPr id="14" name="Text 12"/>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673"/>
                </a:solidFill>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4E79"/>
        </a:solidFill>
      </p:bgPr>
    </p:bg>
    <p:spTree>
      <p:nvGrpSpPr>
        <p:cNvPr id="1" name=""/>
        <p:cNvGrpSpPr/>
        <p:nvPr/>
      </p:nvGrpSpPr>
      <p:grpSpPr>
        <a:xfrm>
          <a:off x="0" y="0"/>
          <a:ext cx="0" cy="0"/>
          <a:chOff x="0" y="0"/>
          <a:chExt cx="0" cy="0"/>
        </a:xfrm>
      </p:grpSpPr>
      <p:sp>
        <p:nvSpPr>
          <p:cNvPr id="2" name="Shape 0"/>
          <p:cNvSpPr/>
          <p:nvPr/>
        </p:nvSpPr>
        <p:spPr>
          <a:xfrm>
            <a:off x="-2286000" y="3840480"/>
            <a:ext cx="5486400" cy="5486400"/>
          </a:xfrm>
          <a:prstGeom prst="ellipse">
            <a:avLst/>
          </a:prstGeom>
          <a:solidFill>
            <a:srgbClr val="153252"/>
          </a:solidFill>
          <a:ln/>
        </p:spPr>
      </p:sp>
      <p:sp>
        <p:nvSpPr>
          <p:cNvPr id="3" name="Text 1"/>
          <p:cNvSpPr txBox="1"/>
          <p:nvPr/>
        </p:nvSpPr>
        <p:spPr>
          <a:xfrm>
            <a:off x="640080" y="457200"/>
            <a:ext cx="7315200" cy="320040"/>
          </a:xfrm>
          <a:prstGeom prst="rect">
            <a:avLst/>
          </a:prstGeom>
          <a:noFill/>
          <a:ln/>
        </p:spPr>
        <p:txBody>
          <a:bodyPr wrap="square" lIns="0" tIns="0" rIns="0" bIns="0" rtlCol="0" anchor="ctr"/>
          <a:lstStyle/>
          <a:p>
            <a:pPr indent="0" marL="0">
              <a:buNone/>
            </a:pPr>
            <a:r>
              <a:rPr lang="en-US" sz="1300" b="1" spc="200" kern="0" dirty="0">
                <a:solidFill>
                  <a:srgbClr val="FF8FA0"/>
                </a:solidFill>
                <a:latin typeface="Calibri" pitchFamily="34" charset="0"/>
                <a:ea typeface="Calibri" pitchFamily="34" charset="-122"/>
                <a:cs typeface="Calibri" pitchFamily="34" charset="-120"/>
              </a:rPr>
              <a:t>CONCLUSION</a:t>
            </a:r>
            <a:endParaRPr lang="en-US" sz="1300" dirty="0"/>
          </a:p>
        </p:txBody>
      </p:sp>
      <p:sp>
        <p:nvSpPr>
          <p:cNvPr id="4" name="Text 2"/>
          <p:cNvSpPr txBox="1"/>
          <p:nvPr/>
        </p:nvSpPr>
        <p:spPr>
          <a:xfrm>
            <a:off x="640080" y="868680"/>
            <a:ext cx="1051560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Un projet complet, prêt à évoluer</a:t>
            </a:r>
            <a:endParaRPr lang="en-US" sz="3000" dirty="0"/>
          </a:p>
        </p:txBody>
      </p:sp>
      <p:sp>
        <p:nvSpPr>
          <p:cNvPr id="5" name="Text 3"/>
          <p:cNvSpPr txBox="1"/>
          <p:nvPr/>
        </p:nvSpPr>
        <p:spPr>
          <a:xfrm>
            <a:off x="640080" y="1920240"/>
            <a:ext cx="5120640" cy="365760"/>
          </a:xfrm>
          <a:prstGeom prst="rect">
            <a:avLst/>
          </a:prstGeom>
          <a:noFill/>
          <a:ln/>
        </p:spPr>
        <p:txBody>
          <a:bodyPr wrap="square" lIns="0" tIns="0" rIns="0" bIns="0" rtlCol="0" anchor="ctr"/>
          <a:lstStyle/>
          <a:p>
            <a:pPr indent="0" marL="0">
              <a:buNone/>
            </a:pPr>
            <a:r>
              <a:rPr lang="en-US" sz="1500" b="1" dirty="0">
                <a:solidFill>
                  <a:srgbClr val="FF8FA0"/>
                </a:solidFill>
                <a:latin typeface="Calibri" pitchFamily="34" charset="0"/>
                <a:ea typeface="Calibri" pitchFamily="34" charset="-122"/>
                <a:cs typeface="Calibri" pitchFamily="34" charset="-120"/>
              </a:rPr>
              <a:t>Livré aujourd'hui</a:t>
            </a:r>
            <a:endParaRPr lang="en-US" sz="1500" dirty="0"/>
          </a:p>
        </p:txBody>
      </p:sp>
      <p:sp>
        <p:nvSpPr>
          <p:cNvPr id="6" name="Text 4"/>
          <p:cNvSpPr txBox="1"/>
          <p:nvPr/>
        </p:nvSpPr>
        <p:spPr>
          <a:xfrm>
            <a:off x="685800" y="2331720"/>
            <a:ext cx="5029200" cy="237744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350" dirty="0">
                <a:solidFill>
                  <a:srgbClr val="E9EEF5"/>
                </a:solidFill>
                <a:latin typeface="Calibri" pitchFamily="34" charset="0"/>
                <a:ea typeface="Calibri" pitchFamily="34" charset="-122"/>
                <a:cs typeface="Calibri" pitchFamily="34" charset="-120"/>
              </a:rPr>
              <a:t>Cahier des charges, conception visuelle et technique</a:t>
            </a:r>
            <a:endParaRPr lang="en-US" sz="1350" dirty="0"/>
          </a:p>
          <a:p>
            <a:pPr marL="342900" indent="-342900">
              <a:lnSpc>
                <a:spcPct val="120000"/>
              </a:lnSpc>
              <a:spcAft>
                <a:spcPts val="1000"/>
              </a:spcAft>
              <a:buSzPct val="100000"/>
              <a:buChar char="●"/>
            </a:pPr>
            <a:r>
              <a:rPr lang="en-US" sz="1350" dirty="0">
                <a:solidFill>
                  <a:srgbClr val="E9EEF5"/>
                </a:solidFill>
                <a:latin typeface="Calibri" pitchFamily="34" charset="0"/>
                <a:ea typeface="Calibri" pitchFamily="34" charset="-122"/>
                <a:cs typeface="Calibri" pitchFamily="34" charset="-120"/>
              </a:rPr>
              <a:t>Application React + Laravel fonctionnelle de bout en bout</a:t>
            </a:r>
            <a:endParaRPr lang="en-US" sz="1350" dirty="0"/>
          </a:p>
          <a:p>
            <a:pPr marL="342900" indent="-342900">
              <a:lnSpc>
                <a:spcPct val="120000"/>
              </a:lnSpc>
              <a:spcAft>
                <a:spcPts val="1000"/>
              </a:spcAft>
              <a:buSzPct val="100000"/>
              <a:buChar char="●"/>
            </a:pPr>
            <a:r>
              <a:rPr lang="en-US" sz="1350" dirty="0">
                <a:solidFill>
                  <a:srgbClr val="E9EEF5"/>
                </a:solidFill>
                <a:latin typeface="Calibri" pitchFamily="34" charset="0"/>
                <a:ea typeface="Calibri" pitchFamily="34" charset="-122"/>
                <a:cs typeface="Calibri" pitchFamily="34" charset="-120"/>
              </a:rPr>
              <a:t>20 tests automatisés et vérifications manuelles</a:t>
            </a:r>
            <a:endParaRPr lang="en-US" sz="1350" dirty="0"/>
          </a:p>
          <a:p>
            <a:pPr marL="342900" indent="-342900">
              <a:lnSpc>
                <a:spcPct val="120000"/>
              </a:lnSpc>
              <a:spcAft>
                <a:spcPts val="1000"/>
              </a:spcAft>
              <a:buSzPct val="100000"/>
              <a:buChar char="●"/>
            </a:pPr>
            <a:r>
              <a:rPr lang="en-US" sz="1350" dirty="0">
                <a:solidFill>
                  <a:srgbClr val="E9EEF5"/>
                </a:solidFill>
                <a:latin typeface="Calibri" pitchFamily="34" charset="0"/>
                <a:ea typeface="Calibri" pitchFamily="34" charset="-122"/>
                <a:cs typeface="Calibri" pitchFamily="34" charset="-120"/>
              </a:rPr>
              <a:t>Dépôt Git avec historique de commits</a:t>
            </a:r>
            <a:endParaRPr lang="en-US" sz="1350" dirty="0"/>
          </a:p>
        </p:txBody>
      </p:sp>
      <p:sp>
        <p:nvSpPr>
          <p:cNvPr id="7" name="Text 5"/>
          <p:cNvSpPr txBox="1"/>
          <p:nvPr/>
        </p:nvSpPr>
        <p:spPr>
          <a:xfrm>
            <a:off x="6309360" y="1920240"/>
            <a:ext cx="5120640" cy="365760"/>
          </a:xfrm>
          <a:prstGeom prst="rect">
            <a:avLst/>
          </a:prstGeom>
          <a:noFill/>
          <a:ln/>
        </p:spPr>
        <p:txBody>
          <a:bodyPr wrap="square" lIns="0" tIns="0" rIns="0" bIns="0" rtlCol="0" anchor="ctr"/>
          <a:lstStyle/>
          <a:p>
            <a:pPr indent="0" marL="0">
              <a:buNone/>
            </a:pPr>
            <a:r>
              <a:rPr lang="en-US" sz="1500" b="1" dirty="0">
                <a:solidFill>
                  <a:srgbClr val="FF8FA0"/>
                </a:solidFill>
                <a:latin typeface="Calibri" pitchFamily="34" charset="0"/>
                <a:ea typeface="Calibri" pitchFamily="34" charset="-122"/>
                <a:cs typeface="Calibri" pitchFamily="34" charset="-120"/>
              </a:rPr>
              <a:t>Perspectives</a:t>
            </a:r>
            <a:endParaRPr lang="en-US" sz="1500" dirty="0"/>
          </a:p>
        </p:txBody>
      </p:sp>
      <p:sp>
        <p:nvSpPr>
          <p:cNvPr id="8" name="Text 6"/>
          <p:cNvSpPr txBox="1"/>
          <p:nvPr/>
        </p:nvSpPr>
        <p:spPr>
          <a:xfrm>
            <a:off x="6355080" y="2331720"/>
            <a:ext cx="5029200" cy="237744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350" dirty="0">
                <a:solidFill>
                  <a:srgbClr val="E9EEF5"/>
                </a:solidFill>
                <a:latin typeface="Calibri" pitchFamily="34" charset="0"/>
                <a:ea typeface="Calibri" pitchFamily="34" charset="-122"/>
                <a:cs typeface="Calibri" pitchFamily="34" charset="-120"/>
              </a:rPr>
              <a:t>Carte interactive avec géolocalisation</a:t>
            </a:r>
            <a:endParaRPr lang="en-US" sz="1350" dirty="0"/>
          </a:p>
          <a:p>
            <a:pPr marL="342900" indent="-342900">
              <a:lnSpc>
                <a:spcPct val="120000"/>
              </a:lnSpc>
              <a:spcAft>
                <a:spcPts val="1000"/>
              </a:spcAft>
              <a:buSzPct val="100000"/>
              <a:buChar char="●"/>
            </a:pPr>
            <a:r>
              <a:rPr lang="en-US" sz="1350" dirty="0">
                <a:solidFill>
                  <a:srgbClr val="E9EEF5"/>
                </a:solidFill>
                <a:latin typeface="Calibri" pitchFamily="34" charset="0"/>
                <a:ea typeface="Calibri" pitchFamily="34" charset="-122"/>
                <a:cs typeface="Calibri" pitchFamily="34" charset="-120"/>
              </a:rPr>
              <a:t>Messagerie interne citoyen / agent</a:t>
            </a:r>
            <a:endParaRPr lang="en-US" sz="1350" dirty="0"/>
          </a:p>
          <a:p>
            <a:pPr marL="342900" indent="-342900">
              <a:lnSpc>
                <a:spcPct val="120000"/>
              </a:lnSpc>
              <a:spcAft>
                <a:spcPts val="1000"/>
              </a:spcAft>
              <a:buSzPct val="100000"/>
              <a:buChar char="●"/>
            </a:pPr>
            <a:r>
              <a:rPr lang="en-US" sz="1350" dirty="0">
                <a:solidFill>
                  <a:srgbClr val="E9EEF5"/>
                </a:solidFill>
                <a:latin typeface="Calibri" pitchFamily="34" charset="0"/>
                <a:ea typeface="Calibri" pitchFamily="34" charset="-122"/>
                <a:cs typeface="Calibri" pitchFamily="34" charset="-120"/>
              </a:rPr>
              <a:t>Export PDF des rapports de signalements</a:t>
            </a:r>
            <a:endParaRPr lang="en-US" sz="1350" dirty="0"/>
          </a:p>
          <a:p>
            <a:pPr marL="342900" indent="-342900">
              <a:lnSpc>
                <a:spcPct val="120000"/>
              </a:lnSpc>
              <a:spcAft>
                <a:spcPts val="1000"/>
              </a:spcAft>
              <a:buSzPct val="100000"/>
              <a:buChar char="●"/>
            </a:pPr>
            <a:r>
              <a:rPr lang="en-US" sz="1350" dirty="0">
                <a:solidFill>
                  <a:srgbClr val="E9EEF5"/>
                </a:solidFill>
                <a:latin typeface="Calibri" pitchFamily="34" charset="0"/>
                <a:ea typeface="Calibri" pitchFamily="34" charset="-122"/>
                <a:cs typeface="Calibri" pitchFamily="34" charset="-120"/>
              </a:rPr>
              <a:t>Interface bilingue français et créole</a:t>
            </a:r>
            <a:endParaRPr lang="en-US" sz="1350" dirty="0"/>
          </a:p>
        </p:txBody>
      </p:sp>
      <p:sp>
        <p:nvSpPr>
          <p:cNvPr id="9" name="Shape 7"/>
          <p:cNvSpPr/>
          <p:nvPr/>
        </p:nvSpPr>
        <p:spPr>
          <a:xfrm>
            <a:off x="658368" y="5257800"/>
            <a:ext cx="1463040" cy="0"/>
          </a:xfrm>
          <a:prstGeom prst="line">
            <a:avLst/>
          </a:prstGeom>
          <a:noFill/>
          <a:ln w="25400">
            <a:solidFill>
              <a:srgbClr val="A6192E"/>
            </a:solidFill>
            <a:prstDash val="solid"/>
          </a:ln>
        </p:spPr>
      </p:sp>
      <p:sp>
        <p:nvSpPr>
          <p:cNvPr id="10" name="Text 8"/>
          <p:cNvSpPr txBox="1"/>
          <p:nvPr/>
        </p:nvSpPr>
        <p:spPr>
          <a:xfrm>
            <a:off x="640080" y="5440680"/>
            <a:ext cx="7315200" cy="457200"/>
          </a:xfrm>
          <a:prstGeom prst="rect">
            <a:avLst/>
          </a:prstGeom>
          <a:noFill/>
          <a:ln/>
        </p:spPr>
        <p:txBody>
          <a:bodyPr wrap="square" lIns="0" tIns="0" rIns="0" bIns="0"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Merci de votre attention.</a:t>
            </a:r>
            <a:endParaRPr lang="en-US" sz="2000" dirty="0"/>
          </a:p>
        </p:txBody>
      </p:sp>
      <p:sp>
        <p:nvSpPr>
          <p:cNvPr id="11" name="Text 9"/>
          <p:cNvSpPr txBox="1"/>
          <p:nvPr/>
        </p:nvSpPr>
        <p:spPr>
          <a:xfrm>
            <a:off x="640080" y="5989320"/>
            <a:ext cx="9144000" cy="365760"/>
          </a:xfrm>
          <a:prstGeom prst="rect">
            <a:avLst/>
          </a:prstGeom>
          <a:noFill/>
          <a:ln/>
        </p:spPr>
        <p:txBody>
          <a:bodyPr wrap="square" lIns="0" tIns="0" rIns="0" bIns="0" rtlCol="0" anchor="ctr"/>
          <a:lstStyle/>
          <a:p>
            <a:pPr indent="0" marL="0">
              <a:buNone/>
            </a:pPr>
            <a:r>
              <a:rPr lang="en-US" sz="1250" dirty="0">
                <a:solidFill>
                  <a:srgbClr val="9FB7D6"/>
                </a:solidFill>
                <a:latin typeface="Calibri" pitchFamily="34" charset="0"/>
                <a:ea typeface="Calibri" pitchFamily="34" charset="-122"/>
                <a:cs typeface="Calibri" pitchFamily="34" charset="-120"/>
              </a:rPr>
              <a:t>Code source et README : depot GitHub SignalAyiti</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2026-09-21T16:05:17Z</dcterms:created>
  <dcterms:modified xsi:type="dcterms:W3CDTF">2026-09-21T16:05:17Z</dcterms:modified>
</cp:coreProperties>
</file>